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Slides/notesSlide10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7" r:id="rId12"/>
    <p:sldId id="266" r:id="rId13"/>
  </p:sldIdLst>
  <p:sldSz type="screen16x9" cy="6858000" cx="12192000"/>
  <p:notesSz cx="6858000" cy="12192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tableStyles" Target="tableStyles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9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Welcome the panel. Introduce the project title, your branch, and give a one-line hook about solving proxy attendance and manual errors with AI + cloud.</a:t>
            </a:r>
          </a:p>
        </p:txBody>
      </p:sp>
      <p:sp>
        <p:nvSpPr>
          <p:cNvPr id="104859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1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Explain each pain point briefly: time loss, proxy attendance, human error, lack of real-time visibility, fragile physical records.</a:t>
            </a:r>
          </a:p>
        </p:txBody>
      </p:sp>
      <p:sp>
        <p:nvSpPr>
          <p:cNvPr id="104861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3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Walk through the five pillars: AI recognition, cloud integration, automation, real-time monitoring, and analytics.</a:t>
            </a:r>
          </a:p>
        </p:txBody>
      </p:sp>
      <p:sp>
        <p:nvSpPr>
          <p:cNvPr id="104863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6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Trace the pipeline: face capture, recognition, verification, cloud storage, processing, dashboard, and reports.</a:t>
            </a:r>
          </a:p>
        </p:txBody>
      </p:sp>
      <p:sp>
        <p:nvSpPr>
          <p:cNvPr id="104866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8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Group the stack into AI/vision, infrastructure, and application layers while presenting.</a:t>
            </a:r>
          </a:p>
        </p:txBody>
      </p:sp>
      <p:sp>
        <p:nvSpPr>
          <p:cNvPr id="104868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0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Narrate the six-step journey from entry to live faculty update — the whole loop completes in seconds.</a:t>
            </a:r>
          </a:p>
        </p:txBody>
      </p:sp>
      <p:sp>
        <p:nvSpPr>
          <p:cNvPr id="104870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2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Present the six protections: encryption, face verification, anti-spoofing, secure login, live monitoring, and backups.</a:t>
            </a:r>
          </a:p>
        </p:txBody>
      </p:sp>
      <p:sp>
        <p:nvSpPr>
          <p:cNvPr id="104872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5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Lead with the 99% accuracy stat, then the seven advantages: time saved, paperless, secure, live reports, cloud backup, easy management, scalable.</a:t>
            </a:r>
          </a:p>
        </p:txBody>
      </p:sp>
      <p:sp>
        <p:nvSpPr>
          <p:cNvPr id="104875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7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Present as a roadmap: emotion detection, multi-face recognition, mobile app, voice auth, smart notifications, GPS verification, blockchain.</a:t>
            </a:r>
          </a:p>
        </p:txBody>
      </p:sp>
      <p:sp>
        <p:nvSpPr>
          <p:cNvPr id="104877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8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Summarize the four closing points, restate the tagline, thank the panel, invite questions.</a:t>
            </a:r>
          </a:p>
        </p:txBody>
      </p:sp>
      <p:sp>
        <p:nvSpPr>
          <p:cNvPr id="104879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1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dirty="0" lang="en-US"/>
          </a:p>
        </p:txBody>
      </p:sp>
      <p:sp>
        <p:nvSpPr>
          <p:cNvPr id="1048792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dirty="0" lang="en-US"/>
          </a:p>
        </p:txBody>
      </p:sp>
      <p:sp>
        <p:nvSpPr>
          <p:cNvPr id="104879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764DE79-268F-4C1A-8933-263129D2AF90}" type="datetimeFigureOut">
              <a:rPr dirty="0" lang="en-US"/>
              <a:t>7/23/2026</a:t>
            </a:fld>
            <a:endParaRPr dirty="0" lang="en-US"/>
          </a:p>
        </p:txBody>
      </p:sp>
      <p:sp>
        <p:nvSpPr>
          <p:cNvPr id="104879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9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8F63A3B-78C7-47BE-AE5E-E10140E04643}" type="slidenum">
              <a:rPr dirty="0" lang="en-US"/>
              <a:t>‹#›</a:t>
            </a:fld>
            <a:endParaRPr dirty="0" lang="en-US"/>
          </a:p>
        </p:txBody>
      </p:sp>
    </p:spTree>
  </p:cSld>
  <p:clrMapOvr>
    <a:masterClrMapping/>
  </p:clrMapOvr>
  <p:hf dt="0" ftr="0" hdr="0" sldNum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/>
              <a:t>Click to edit Master title style</a:t>
            </a:r>
            <a:endParaRPr dirty="0" lang="en-US"/>
          </a:p>
        </p:txBody>
      </p:sp>
      <p:sp>
        <p:nvSpPr>
          <p:cNvPr id="1048806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 lang="en-US"/>
          </a:p>
        </p:txBody>
      </p:sp>
      <p:sp>
        <p:nvSpPr>
          <p:cNvPr id="104880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764DE79-268F-4C1A-8933-263129D2AF90}" type="datetimeFigureOut">
              <a:rPr dirty="0" lang="en-US"/>
              <a:t>7/23/2026</a:t>
            </a:fld>
            <a:endParaRPr dirty="0" lang="en-US"/>
          </a:p>
        </p:txBody>
      </p:sp>
      <p:sp>
        <p:nvSpPr>
          <p:cNvPr id="104880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80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8F63A3B-78C7-47BE-AE5E-E10140E04643}" type="slidenum">
              <a:rPr dirty="0" lang="en-US"/>
              <a:t>‹#›</a:t>
            </a:fld>
            <a:endParaRPr dirty="0" lang="en-US"/>
          </a:p>
        </p:txBody>
      </p:sp>
    </p:spTree>
  </p:cSld>
  <p:clrMapOvr>
    <a:masterClrMapping/>
  </p:clrMapOvr>
  <p:hf dt="0" ftr="0" hdr="0" sldNum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1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dirty="0" lang="en-US"/>
          </a:p>
        </p:txBody>
      </p:sp>
      <p:sp>
        <p:nvSpPr>
          <p:cNvPr id="1048822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indent="0" mar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4882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764DE79-268F-4C1A-8933-263129D2AF90}" type="datetimeFigureOut">
              <a:rPr dirty="0" lang="en-US"/>
              <a:t>7/23/2026</a:t>
            </a:fld>
            <a:endParaRPr dirty="0" lang="en-US"/>
          </a:p>
        </p:txBody>
      </p:sp>
      <p:sp>
        <p:nvSpPr>
          <p:cNvPr id="104882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82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8F63A3B-78C7-47BE-AE5E-E10140E04643}" type="slidenum">
              <a:rPr dirty="0" lang="en-US"/>
              <a:t>‹#›</a:t>
            </a:fld>
            <a:endParaRPr dirty="0" lang="en-US"/>
          </a:p>
        </p:txBody>
      </p:sp>
    </p:spTree>
  </p:cSld>
  <p:clrMapOvr>
    <a:masterClrMapping/>
  </p:clrMapOvr>
  <p:hf dt="0" ftr="0" hdr="0" sldNum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/>
              <a:t>Click to edit Master title style</a:t>
            </a:r>
            <a:endParaRPr dirty="0" lang="en-US"/>
          </a:p>
        </p:txBody>
      </p:sp>
      <p:sp>
        <p:nvSpPr>
          <p:cNvPr id="1048827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 lang="en-US"/>
          </a:p>
        </p:txBody>
      </p:sp>
      <p:sp>
        <p:nvSpPr>
          <p:cNvPr id="1048828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 lang="en-US"/>
          </a:p>
        </p:txBody>
      </p:sp>
      <p:sp>
        <p:nvSpPr>
          <p:cNvPr id="104882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764DE79-268F-4C1A-8933-263129D2AF90}" type="datetimeFigureOut">
              <a:rPr dirty="0" lang="en-US"/>
              <a:t>7/23/2026</a:t>
            </a:fld>
            <a:endParaRPr dirty="0" lang="en-US"/>
          </a:p>
        </p:txBody>
      </p:sp>
      <p:sp>
        <p:nvSpPr>
          <p:cNvPr id="104883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83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8F63A3B-78C7-47BE-AE5E-E10140E04643}" type="slidenum">
              <a:rPr dirty="0" lang="en-US"/>
              <a:t>‹#›</a:t>
            </a:fld>
            <a:endParaRPr dirty="0" lang="en-US"/>
          </a:p>
        </p:txBody>
      </p:sp>
    </p:spTree>
  </p:cSld>
  <p:clrMapOvr>
    <a:masterClrMapping/>
  </p:clrMapOvr>
  <p:hf dt="0" ftr="0" hdr="0" sldNum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r>
              <a:rPr lang="en-GB"/>
              <a:t>Click to edit Master title style</a:t>
            </a:r>
            <a:endParaRPr dirty="0" lang="en-US"/>
          </a:p>
        </p:txBody>
      </p:sp>
      <p:sp>
        <p:nvSpPr>
          <p:cNvPr id="104883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4883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 lang="en-US"/>
          </a:p>
        </p:txBody>
      </p:sp>
      <p:sp>
        <p:nvSpPr>
          <p:cNvPr id="104883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4883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 lang="en-US"/>
          </a:p>
        </p:txBody>
      </p:sp>
      <p:sp>
        <p:nvSpPr>
          <p:cNvPr id="104883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764DE79-268F-4C1A-8933-263129D2AF90}" type="datetimeFigureOut">
              <a:rPr dirty="0" lang="en-US"/>
              <a:t>7/23/2026</a:t>
            </a:fld>
            <a:endParaRPr dirty="0" lang="en-US"/>
          </a:p>
        </p:txBody>
      </p:sp>
      <p:sp>
        <p:nvSpPr>
          <p:cNvPr id="104883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83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8F63A3B-78C7-47BE-AE5E-E10140E04643}" type="slidenum">
              <a:rPr dirty="0" lang="en-US"/>
              <a:t>‹#›</a:t>
            </a:fld>
            <a:endParaRPr dirty="0" lang="en-US"/>
          </a:p>
        </p:txBody>
      </p:sp>
    </p:spTree>
  </p:cSld>
  <p:clrMapOvr>
    <a:masterClrMapping/>
  </p:clrMapOvr>
  <p:hf dt="0" ftr="0" hdr="0" sldNum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/>
              <a:t>Click to edit Master title style</a:t>
            </a:r>
            <a:endParaRPr dirty="0" lang="en-US"/>
          </a:p>
        </p:txBody>
      </p:sp>
      <p:sp>
        <p:nvSpPr>
          <p:cNvPr id="104879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764DE79-268F-4C1A-8933-263129D2AF90}" type="datetimeFigureOut">
              <a:rPr dirty="0" lang="en-US"/>
              <a:t>7/23/2026</a:t>
            </a:fld>
            <a:endParaRPr dirty="0" lang="en-US"/>
          </a:p>
        </p:txBody>
      </p:sp>
      <p:sp>
        <p:nvSpPr>
          <p:cNvPr id="1048798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9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8F63A3B-78C7-47BE-AE5E-E10140E04643}" type="slidenum">
              <a:rPr dirty="0" lang="en-US"/>
              <a:t>‹#›</a:t>
            </a:fld>
            <a:endParaRPr dirty="0" lang="en-US"/>
          </a:p>
        </p:txBody>
      </p:sp>
    </p:spTree>
  </p:cSld>
  <p:clrMapOvr>
    <a:masterClrMapping/>
  </p:clrMapOvr>
  <p:hf dt="0" ftr="0" hdr="0" sldNum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0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764DE79-268F-4C1A-8933-263129D2AF90}" type="datetimeFigureOut">
              <a:rPr dirty="0" lang="en-US"/>
              <a:t>7/23/2026</a:t>
            </a:fld>
            <a:endParaRPr dirty="0" lang="en-US"/>
          </a:p>
        </p:txBody>
      </p:sp>
      <p:sp>
        <p:nvSpPr>
          <p:cNvPr id="1048841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84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8F63A3B-78C7-47BE-AE5E-E10140E04643}" type="slidenum">
              <a:rPr dirty="0" lang="en-US"/>
              <a:t>‹#›</a:t>
            </a:fld>
            <a:endParaRPr dirty="0" lang="en-US"/>
          </a:p>
        </p:txBody>
      </p:sp>
    </p:spTree>
  </p:cSld>
  <p:clrMapOvr>
    <a:masterClrMapping/>
  </p:clrMapOvr>
  <p:hf dt="0" ftr="0" hdr="0" sldNum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3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dirty="0" lang="en-US"/>
          </a:p>
        </p:txBody>
      </p:sp>
      <p:sp>
        <p:nvSpPr>
          <p:cNvPr id="1048844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 lang="en-US"/>
          </a:p>
        </p:txBody>
      </p:sp>
      <p:sp>
        <p:nvSpPr>
          <p:cNvPr id="1048845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4884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764DE79-268F-4C1A-8933-263129D2AF90}" type="datetimeFigureOut">
              <a:rPr dirty="0" lang="en-US"/>
              <a:t>7/23/2026</a:t>
            </a:fld>
            <a:endParaRPr dirty="0" lang="en-US"/>
          </a:p>
        </p:txBody>
      </p:sp>
      <p:sp>
        <p:nvSpPr>
          <p:cNvPr id="104884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84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8F63A3B-78C7-47BE-AE5E-E10140E04643}" type="slidenum">
              <a:rPr dirty="0" lang="en-US"/>
              <a:t>‹#›</a:t>
            </a:fld>
            <a:endParaRPr dirty="0" lang="en-US"/>
          </a:p>
        </p:txBody>
      </p:sp>
    </p:spTree>
  </p:cSld>
  <p:clrMapOvr>
    <a:masterClrMapping/>
  </p:clrMapOvr>
  <p:hf dt="0" ftr="0" hdr="0" sldNum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0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dirty="0" lang="en-US"/>
          </a:p>
        </p:txBody>
      </p:sp>
      <p:sp>
        <p:nvSpPr>
          <p:cNvPr id="1048811" name="Picture Placeholder 2"/>
          <p:cNvSpPr>
            <a:spLocks noChangeAspect="1"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dirty="0" lang="en-US"/>
          </a:p>
        </p:txBody>
      </p:sp>
      <p:sp>
        <p:nvSpPr>
          <p:cNvPr id="1048812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4881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764DE79-268F-4C1A-8933-263129D2AF90}" type="datetimeFigureOut">
              <a:rPr dirty="0" lang="en-US"/>
              <a:t>7/23/2026</a:t>
            </a:fld>
            <a:endParaRPr dirty="0" lang="en-US"/>
          </a:p>
        </p:txBody>
      </p:sp>
      <p:sp>
        <p:nvSpPr>
          <p:cNvPr id="104881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81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8F63A3B-78C7-47BE-AE5E-E10140E04643}" type="slidenum">
              <a:rPr dirty="0" lang="en-US"/>
              <a:t>‹#›</a:t>
            </a:fld>
            <a:endParaRPr dirty="0" lang="en-US"/>
          </a:p>
        </p:txBody>
      </p:sp>
    </p:spTree>
  </p:cSld>
  <p:clrMapOvr>
    <a:masterClrMapping/>
  </p:clrMapOvr>
  <p:hf dt="0" ftr="0" hdr="0" sldNum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/>
              <a:t>Click to edit Master title style</a:t>
            </a:r>
            <a:endParaRPr dirty="0" lang="en-US"/>
          </a:p>
        </p:txBody>
      </p:sp>
      <p:sp>
        <p:nvSpPr>
          <p:cNvPr id="1048817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 lang="en-US"/>
          </a:p>
        </p:txBody>
      </p:sp>
      <p:sp>
        <p:nvSpPr>
          <p:cNvPr id="104881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764DE79-268F-4C1A-8933-263129D2AF90}" type="datetimeFigureOut">
              <a:rPr dirty="0" lang="en-US"/>
              <a:t>7/23/2026</a:t>
            </a:fld>
            <a:endParaRPr dirty="0" lang="en-US"/>
          </a:p>
        </p:txBody>
      </p:sp>
      <p:sp>
        <p:nvSpPr>
          <p:cNvPr id="104881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82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8F63A3B-78C7-47BE-AE5E-E10140E04643}" type="slidenum">
              <a:rPr dirty="0" lang="en-US"/>
              <a:t>‹#›</a:t>
            </a:fld>
            <a:endParaRPr dirty="0" lang="en-US"/>
          </a:p>
        </p:txBody>
      </p:sp>
    </p:spTree>
  </p:cSld>
  <p:clrMapOvr>
    <a:masterClrMapping/>
  </p:clrMapOvr>
  <p:hf dt="0" ftr="0" hdr="0" sldNum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0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r>
              <a:rPr lang="en-GB"/>
              <a:t>Click to edit Master title style</a:t>
            </a:r>
            <a:endParaRPr dirty="0" lang="en-US"/>
          </a:p>
        </p:txBody>
      </p:sp>
      <p:sp>
        <p:nvSpPr>
          <p:cNvPr id="104880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 lang="en-US"/>
          </a:p>
        </p:txBody>
      </p:sp>
      <p:sp>
        <p:nvSpPr>
          <p:cNvPr id="104880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764DE79-268F-4C1A-8933-263129D2AF90}" type="datetimeFigureOut">
              <a:rPr dirty="0" lang="en-US"/>
              <a:t>7/23/2026</a:t>
            </a:fld>
            <a:endParaRPr dirty="0" lang="en-US"/>
          </a:p>
        </p:txBody>
      </p:sp>
      <p:sp>
        <p:nvSpPr>
          <p:cNvPr id="104880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80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8F63A3B-78C7-47BE-AE5E-E10140E04643}" type="slidenum">
              <a:rPr dirty="0" lang="en-US"/>
              <a:t>‹#›</a:t>
            </a:fld>
            <a:endParaRPr dirty="0" lang="en-US"/>
          </a:p>
        </p:txBody>
      </p:sp>
    </p:spTree>
  </p:cSld>
  <p:clrMapOvr>
    <a:masterClrMapping/>
  </p:clrMapOvr>
  <p:hf dt="0" ftr="0" hdr="0" sldNum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GB"/>
              <a:t>Click to edit Master title style</a:t>
            </a:r>
            <a:endParaRPr dirty="0"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dirty="0" lang="en-US"/>
              <a:t>7/23/2026</a:t>
            </a:fld>
            <a:endParaRPr dirty="0"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dirty="0" lang="en-US"/>
              <a:t>‹#›</a:t>
            </a:fld>
            <a:endParaRPr dirty="0"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slideLayout" Target="../slideLayouts/slideLayout1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12.png"/><Relationship Id="rId6" Type="http://schemas.openxmlformats.org/officeDocument/2006/relationships/slideLayout" Target="../slideLayouts/slideLayout1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slideLayout" Target="../slideLayouts/slideLayout1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0.png"/><Relationship Id="rId3" Type="http://schemas.openxmlformats.org/officeDocument/2006/relationships/image" Target="../media/image2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16.png"/><Relationship Id="rId9" Type="http://schemas.openxmlformats.org/officeDocument/2006/relationships/image" Target="../media/image25.png"/><Relationship Id="rId10" Type="http://schemas.openxmlformats.org/officeDocument/2006/relationships/slideLayout" Target="../slideLayouts/slideLayout12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14.png"/><Relationship Id="rId3" Type="http://schemas.openxmlformats.org/officeDocument/2006/relationships/image" Target="../media/image27.png"/><Relationship Id="rId4" Type="http://schemas.openxmlformats.org/officeDocument/2006/relationships/image" Target="../media/image2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slideLayout" Target="../slideLayouts/slideLayout1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slideLayout" Target="../slideLayouts/slideLayout1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34.png"/><Relationship Id="rId3" Type="http://schemas.openxmlformats.org/officeDocument/2006/relationships/image" Target="../media/image30.png"/><Relationship Id="rId4" Type="http://schemas.openxmlformats.org/officeDocument/2006/relationships/image" Target="../media/image12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slideLayout" Target="../slideLayouts/slideLayout12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image" Target="../media/image13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29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slideLayout" Target="../slideLayouts/slideLayout1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43.jpeg"/><Relationship Id="rId2" Type="http://schemas.openxmlformats.org/officeDocument/2006/relationships/slideLayout" Target="../slideLayouts/slideLayout7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image" Target="../media/image37.png"/><Relationship Id="rId3" Type="http://schemas.openxmlformats.org/officeDocument/2006/relationships/image" Target="../media/image1.png"/><Relationship Id="rId4" Type="http://schemas.openxmlformats.org/officeDocument/2006/relationships/image" Target="../media/image45.png"/><Relationship Id="rId5" Type="http://schemas.openxmlformats.org/officeDocument/2006/relationships/slideLayout" Target="../slideLayouts/slideLayout12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Shape 0"/>
          <p:cNvSpPr/>
          <p:nvPr/>
        </p:nvSpPr>
        <p:spPr>
          <a:xfrm>
            <a:off x="-266855" y="0"/>
            <a:ext cx="12191695" cy="6858000"/>
          </a:xfrm>
          <a:prstGeom prst="rect"/>
          <a:solidFill>
            <a:srgbClr val="FFFFFF"/>
          </a:solidFill>
        </p:spPr>
        <p:txBody>
          <a:bodyPr/>
          <a:p>
            <a:endParaRPr lang="en-IN"/>
          </a:p>
        </p:txBody>
      </p:sp>
      <p:sp>
        <p:nvSpPr>
          <p:cNvPr id="1048582" name="Text 3"/>
          <p:cNvSpPr/>
          <p:nvPr/>
        </p:nvSpPr>
        <p:spPr>
          <a:xfrm>
            <a:off x="2446029" y="1813639"/>
            <a:ext cx="8686800" cy="9144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4200" lang="en-US">
                <a:solidFill>
                  <a:srgbClr val="0A0E27"/>
                </a:solidFill>
                <a:latin typeface="Times New Roman" panose="02020603050405020304" pitchFamily="18" charset="0"/>
                <a:ea typeface="Century Schoolbook" pitchFamily="34" charset="-122"/>
                <a:cs typeface="Times New Roman" panose="02020603050405020304" pitchFamily="18" charset="0"/>
              </a:rPr>
              <a:t>Cloud Attendance System</a:t>
            </a:r>
            <a:endParaRPr dirty="0" sz="42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3" name="Text 4"/>
          <p:cNvSpPr/>
          <p:nvPr/>
        </p:nvSpPr>
        <p:spPr>
          <a:xfrm>
            <a:off x="3238040" y="2500417"/>
            <a:ext cx="8686800" cy="6858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600" lang="en-US">
                <a:solidFill>
                  <a:srgbClr val="55618A"/>
                </a:solidFill>
                <a:latin typeface="Times New Roman" panose="02020603050405020304" pitchFamily="18" charset="0"/>
                <a:ea typeface="Century Schoolbook" pitchFamily="34" charset="-122"/>
                <a:cs typeface="Times New Roman" panose="02020603050405020304" pitchFamily="18" charset="0"/>
              </a:rPr>
              <a:t>with </a:t>
            </a:r>
            <a:r>
              <a:rPr b="1" dirty="0" sz="3600" lang="en-US">
                <a:solidFill>
                  <a:srgbClr val="0086A8"/>
                </a:solidFill>
                <a:latin typeface="Times New Roman" panose="02020603050405020304" pitchFamily="18" charset="0"/>
                <a:ea typeface="Century Schoolbook" pitchFamily="34" charset="-122"/>
                <a:cs typeface="Times New Roman" panose="02020603050405020304" pitchFamily="18" charset="0"/>
              </a:rPr>
              <a:t>Face Recognition</a:t>
            </a:r>
            <a:endParaRPr dirty="0" sz="36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4" name="Text 5"/>
          <p:cNvSpPr/>
          <p:nvPr/>
        </p:nvSpPr>
        <p:spPr>
          <a:xfrm>
            <a:off x="3875163" y="3218688"/>
            <a:ext cx="82296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500" i="1" lang="en-US">
                <a:solidFill>
                  <a:srgbClr val="55618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AI-Powered Smart Attendance Management</a:t>
            </a:r>
            <a:endParaRPr dirty="0" sz="15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52" name="Image 0" descr="/home/claude/cloudppt/assets/face_id_0086A8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822960" y="3995928"/>
            <a:ext cx="256032" cy="256032"/>
          </a:xfrm>
          <a:prstGeom prst="rect"/>
        </p:spPr>
      </p:pic>
      <p:sp>
        <p:nvSpPr>
          <p:cNvPr id="1048585" name="Text 6"/>
          <p:cNvSpPr/>
          <p:nvPr/>
        </p:nvSpPr>
        <p:spPr>
          <a:xfrm>
            <a:off x="1207008" y="4233672"/>
            <a:ext cx="6931152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face verification</a:t>
            </a:r>
            <a:endParaRPr dirty="0" sz="1600" lang="en-US"/>
          </a:p>
        </p:txBody>
      </p:sp>
      <p:pic>
        <p:nvPicPr>
          <p:cNvPr id="2097153" name="Image 1" descr="/home/claude/cloudppt/assets/cloud_0086A8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856923" y="4518815"/>
            <a:ext cx="256032" cy="256032"/>
          </a:xfrm>
          <a:prstGeom prst="rect"/>
        </p:spPr>
      </p:pic>
      <p:sp>
        <p:nvSpPr>
          <p:cNvPr id="1048586" name="Text 7"/>
          <p:cNvSpPr/>
          <p:nvPr/>
        </p:nvSpPr>
        <p:spPr>
          <a:xfrm>
            <a:off x="1207008" y="4505939"/>
            <a:ext cx="6931152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cloud-synced attendance records</a:t>
            </a:r>
            <a:endParaRPr dirty="0" sz="1600" lang="en-US"/>
          </a:p>
        </p:txBody>
      </p:sp>
      <p:pic>
        <p:nvPicPr>
          <p:cNvPr id="2097154" name="Image 2" descr="/home/claude/cloudppt/assets/radar_0086A8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822960" y="4544568"/>
            <a:ext cx="256032" cy="256032"/>
          </a:xfrm>
          <a:prstGeom prst="rect"/>
        </p:spPr>
      </p:pic>
      <p:sp>
        <p:nvSpPr>
          <p:cNvPr id="1048587" name="Text 8"/>
          <p:cNvSpPr/>
          <p:nvPr/>
        </p:nvSpPr>
        <p:spPr>
          <a:xfrm>
            <a:off x="1207008" y="4825513"/>
            <a:ext cx="6931152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Zero-proxy, AI-driven accuracy</a:t>
            </a:r>
            <a:endParaRPr dirty="0" sz="1600" lang="en-US"/>
          </a:p>
        </p:txBody>
      </p:sp>
      <p:sp>
        <p:nvSpPr>
          <p:cNvPr id="1048588" name="Shape 9"/>
          <p:cNvSpPr/>
          <p:nvPr/>
        </p:nvSpPr>
        <p:spPr>
          <a:xfrm>
            <a:off x="640080" y="6355080"/>
            <a:ext cx="10911535" cy="0"/>
          </a:xfrm>
          <a:prstGeom prst="line"/>
          <a:noFill/>
          <a:ln w="12700">
            <a:solidFill>
              <a:srgbClr val="DCE1F2"/>
            </a:solidFill>
            <a:prstDash val="solid"/>
          </a:ln>
        </p:spPr>
        <p:txBody>
          <a:bodyPr/>
          <a:p>
            <a:endParaRPr lang="en-IN"/>
          </a:p>
        </p:txBody>
      </p:sp>
      <p:sp>
        <p:nvSpPr>
          <p:cNvPr id="1048589" name="Text 10"/>
          <p:cNvSpPr/>
          <p:nvPr/>
        </p:nvSpPr>
        <p:spPr>
          <a:xfrm>
            <a:off x="640080" y="6473952"/>
            <a:ext cx="548640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00" kern="0" lang="en-US" spc="100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dirty="0" sz="1000" lang="en-US"/>
          </a:p>
        </p:txBody>
      </p:sp>
      <p:sp>
        <p:nvSpPr>
          <p:cNvPr id="1048590" name="Text 11"/>
          <p:cNvSpPr/>
          <p:nvPr/>
        </p:nvSpPr>
        <p:spPr>
          <a:xfrm>
            <a:off x="10728655" y="6473952"/>
            <a:ext cx="100584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dirty="0" sz="1000" lang="en-US"/>
          </a:p>
        </p:txBody>
      </p:sp>
      <p:sp>
        <p:nvSpPr>
          <p:cNvPr id="1048591" name="Text 12"/>
          <p:cNvSpPr/>
          <p:nvPr/>
        </p:nvSpPr>
        <p:spPr>
          <a:xfrm>
            <a:off x="4267048" y="6473952"/>
            <a:ext cx="3657600" cy="2743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900" kern="0" lang="en-US" spc="200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ATTENDANCE • AI</a:t>
            </a:r>
            <a:endParaRPr dirty="0" sz="900" lang="en-US"/>
          </a:p>
        </p:txBody>
      </p:sp>
      <p:sp>
        <p:nvSpPr>
          <p:cNvPr id="1048592" name="TextBox 17"/>
          <p:cNvSpPr txBox="1"/>
          <p:nvPr/>
        </p:nvSpPr>
        <p:spPr>
          <a:xfrm>
            <a:off x="8138160" y="5035880"/>
            <a:ext cx="3659008" cy="1310639"/>
          </a:xfrm>
          <a:prstGeom prst="rect"/>
          <a:noFill/>
        </p:spPr>
        <p:txBody>
          <a:bodyPr rtlCol="0" wrap="square">
            <a:spAutoFit/>
          </a:bodyPr>
          <a:p>
            <a:r>
              <a:rPr b="1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 RUTHESH (192521465)</a:t>
            </a:r>
          </a:p>
          <a:p>
            <a:r>
              <a:rPr b="1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MONISH KUMAR (192521214)</a:t>
            </a:r>
          </a:p>
          <a:p>
            <a:r>
              <a:rPr b="1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DILLI BABU (192521491)</a:t>
            </a:r>
          </a:p>
          <a:p>
            <a:r>
              <a:rPr b="1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JOTHI KRISHNAN (19252416</a:t>
            </a:r>
            <a:r>
              <a:rPr b="1"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endParaRPr b="1" dirty="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55" name="Google Shape;12;p1" descr="slide1_img0.png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4">
            <a:alphaModFix/>
          </a:blip>
          <a:srcRect/>
          <a:stretch>
            <a:fillRect/>
          </a:stretch>
        </p:blipFill>
        <p:spPr>
          <a:xfrm>
            <a:off x="83976" y="89107"/>
            <a:ext cx="12020787" cy="1014984"/>
          </a:xfrm>
          <a:prstGeom prst="rect"/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Shape 0"/>
          <p:cNvSpPr/>
          <p:nvPr/>
        </p:nvSpPr>
        <p:spPr>
          <a:xfrm>
            <a:off x="640080" y="457200"/>
            <a:ext cx="1764792" cy="310896"/>
          </a:xfrm>
          <a:prstGeom prst="roundRect">
            <a:avLst>
              <a:gd name="adj" fmla="val 50000"/>
            </a:avLst>
          </a:prstGeom>
          <a:solidFill>
            <a:srgbClr val="F3F5FC"/>
          </a:solidFill>
          <a:ln w="9525">
            <a:solidFill>
              <a:srgbClr val="0086A8"/>
            </a:solidFill>
            <a:prstDash val="solid"/>
          </a:ln>
        </p:spPr>
        <p:txBody>
          <a:bodyPr/>
          <a:p>
            <a:endParaRPr lang="en-IN"/>
          </a:p>
        </p:txBody>
      </p:sp>
      <p:sp>
        <p:nvSpPr>
          <p:cNvPr id="1048597" name="Text 1"/>
          <p:cNvSpPr/>
          <p:nvPr/>
        </p:nvSpPr>
        <p:spPr>
          <a:xfrm>
            <a:off x="640080" y="448056"/>
            <a:ext cx="1764792" cy="310896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100" kern="0" lang="en-US" spc="200">
                <a:solidFill>
                  <a:srgbClr val="00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dirty="0" sz="1100" lang="en-US"/>
          </a:p>
        </p:txBody>
      </p:sp>
      <p:sp>
        <p:nvSpPr>
          <p:cNvPr id="1048598" name="Text 2"/>
          <p:cNvSpPr/>
          <p:nvPr/>
        </p:nvSpPr>
        <p:spPr>
          <a:xfrm>
            <a:off x="640080" y="868680"/>
            <a:ext cx="914400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200" lang="en-US">
                <a:solidFill>
                  <a:srgbClr val="0A0E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Traditional Attendance Fails</a:t>
            </a:r>
            <a:endParaRPr dirty="0" sz="3200" lang="en-US"/>
          </a:p>
        </p:txBody>
      </p:sp>
      <p:pic>
        <p:nvPicPr>
          <p:cNvPr id="2097156" name="Image 0" descr="/home/claude/cloudppt/assets/clock_0086A8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640080" y="1709928"/>
            <a:ext cx="256032" cy="256032"/>
          </a:xfrm>
          <a:prstGeom prst="rect"/>
        </p:spPr>
      </p:pic>
      <p:sp>
        <p:nvSpPr>
          <p:cNvPr id="1048599" name="Text 3"/>
          <p:cNvSpPr/>
          <p:nvPr/>
        </p:nvSpPr>
        <p:spPr>
          <a:xfrm>
            <a:off x="1024128" y="1636776"/>
            <a:ext cx="10497312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Consuming</a:t>
            </a:r>
            <a:endParaRPr dirty="0" sz="1600" lang="en-US"/>
          </a:p>
        </p:txBody>
      </p:sp>
      <p:sp>
        <p:nvSpPr>
          <p:cNvPr id="1048600" name="Text 4"/>
          <p:cNvSpPr/>
          <p:nvPr/>
        </p:nvSpPr>
        <p:spPr>
          <a:xfrm>
            <a:off x="1024128" y="1929384"/>
            <a:ext cx="10497312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roll-call eats 10–15 minutes of every class.</a:t>
            </a:r>
            <a:endParaRPr dirty="0" sz="1250" lang="en-US"/>
          </a:p>
        </p:txBody>
      </p:sp>
      <p:pic>
        <p:nvPicPr>
          <p:cNvPr id="2097157" name="Image 1" descr="/home/claude/cloudppt/assets/mask_0086A8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40080" y="2551176"/>
            <a:ext cx="256032" cy="256032"/>
          </a:xfrm>
          <a:prstGeom prst="rect"/>
        </p:spPr>
      </p:pic>
      <p:sp>
        <p:nvSpPr>
          <p:cNvPr id="1048601" name="Text 5"/>
          <p:cNvSpPr/>
          <p:nvPr/>
        </p:nvSpPr>
        <p:spPr>
          <a:xfrm>
            <a:off x="1024128" y="2478024"/>
            <a:ext cx="10497312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Attendance</a:t>
            </a:r>
            <a:endParaRPr dirty="0" sz="1600" lang="en-US"/>
          </a:p>
        </p:txBody>
      </p:sp>
      <p:sp>
        <p:nvSpPr>
          <p:cNvPr id="1048602" name="Text 6"/>
          <p:cNvSpPr/>
          <p:nvPr/>
        </p:nvSpPr>
        <p:spPr>
          <a:xfrm>
            <a:off x="1024128" y="2770632"/>
            <a:ext cx="10497312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mark attendance for absent friends.</a:t>
            </a:r>
            <a:endParaRPr dirty="0" sz="1250" lang="en-US"/>
          </a:p>
        </p:txBody>
      </p:sp>
      <p:pic>
        <p:nvPicPr>
          <p:cNvPr id="2097158" name="Image 2" descr="/home/claude/cloudppt/assets/warning_0086A8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640080" y="3392424"/>
            <a:ext cx="256032" cy="256032"/>
          </a:xfrm>
          <a:prstGeom prst="rect"/>
        </p:spPr>
      </p:pic>
      <p:sp>
        <p:nvSpPr>
          <p:cNvPr id="1048603" name="Text 7"/>
          <p:cNvSpPr/>
          <p:nvPr/>
        </p:nvSpPr>
        <p:spPr>
          <a:xfrm>
            <a:off x="1024128" y="3319272"/>
            <a:ext cx="10497312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Errors</a:t>
            </a:r>
            <a:endParaRPr dirty="0" sz="1600" lang="en-US"/>
          </a:p>
        </p:txBody>
      </p:sp>
      <p:sp>
        <p:nvSpPr>
          <p:cNvPr id="1048604" name="Text 8"/>
          <p:cNvSpPr/>
          <p:nvPr/>
        </p:nvSpPr>
        <p:spPr>
          <a:xfrm>
            <a:off x="1024128" y="3611880"/>
            <a:ext cx="10497312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mistakes in counting &amp; recording entries.</a:t>
            </a:r>
            <a:endParaRPr dirty="0" sz="1250" lang="en-US"/>
          </a:p>
        </p:txBody>
      </p:sp>
      <p:pic>
        <p:nvPicPr>
          <p:cNvPr id="2097159" name="Image 3" descr="/home/claude/cloudppt/assets/eye_slash_0086A8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640080" y="4233672"/>
            <a:ext cx="256032" cy="256032"/>
          </a:xfrm>
          <a:prstGeom prst="rect"/>
        </p:spPr>
      </p:pic>
      <p:sp>
        <p:nvSpPr>
          <p:cNvPr id="1048605" name="Text 9"/>
          <p:cNvSpPr/>
          <p:nvPr/>
        </p:nvSpPr>
        <p:spPr>
          <a:xfrm>
            <a:off x="1024128" y="4160520"/>
            <a:ext cx="10497312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View</a:t>
            </a:r>
            <a:endParaRPr dirty="0" sz="1600" lang="en-US"/>
          </a:p>
        </p:txBody>
      </p:sp>
      <p:sp>
        <p:nvSpPr>
          <p:cNvPr id="1048606" name="Text 10"/>
          <p:cNvSpPr/>
          <p:nvPr/>
        </p:nvSpPr>
        <p:spPr>
          <a:xfrm>
            <a:off x="1024128" y="4453128"/>
            <a:ext cx="10497312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can't monitor attendance as it happens.</a:t>
            </a:r>
            <a:endParaRPr dirty="0" sz="1250" lang="en-US"/>
          </a:p>
        </p:txBody>
      </p:sp>
      <p:pic>
        <p:nvPicPr>
          <p:cNvPr id="2097160" name="Image 4" descr="/home/claude/cloudppt/assets/file_0086A8.png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640080" y="5074920"/>
            <a:ext cx="256032" cy="256032"/>
          </a:xfrm>
          <a:prstGeom prst="rect"/>
        </p:spPr>
      </p:pic>
      <p:sp>
        <p:nvSpPr>
          <p:cNvPr id="1048607" name="Text 11"/>
          <p:cNvSpPr/>
          <p:nvPr/>
        </p:nvSpPr>
        <p:spPr>
          <a:xfrm>
            <a:off x="1024128" y="5001768"/>
            <a:ext cx="10497312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Record Keeping</a:t>
            </a:r>
            <a:endParaRPr dirty="0" sz="1600" lang="en-US"/>
          </a:p>
        </p:txBody>
      </p:sp>
      <p:sp>
        <p:nvSpPr>
          <p:cNvPr id="1048608" name="Text 12"/>
          <p:cNvSpPr/>
          <p:nvPr/>
        </p:nvSpPr>
        <p:spPr>
          <a:xfrm>
            <a:off x="1024128" y="5294376"/>
            <a:ext cx="10497312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get lost, damaged, or hard to audit.</a:t>
            </a:r>
            <a:endParaRPr dirty="0" sz="1250" lang="en-US"/>
          </a:p>
        </p:txBody>
      </p:sp>
      <p:sp>
        <p:nvSpPr>
          <p:cNvPr id="1048609" name="Shape 13"/>
          <p:cNvSpPr/>
          <p:nvPr/>
        </p:nvSpPr>
        <p:spPr>
          <a:xfrm>
            <a:off x="640080" y="6355080"/>
            <a:ext cx="10911535" cy="0"/>
          </a:xfrm>
          <a:prstGeom prst="line"/>
          <a:noFill/>
          <a:ln w="12700">
            <a:solidFill>
              <a:srgbClr val="DCE1F2"/>
            </a:solidFill>
            <a:prstDash val="solid"/>
          </a:ln>
        </p:spPr>
        <p:txBody>
          <a:bodyPr/>
          <a:p>
            <a:endParaRPr lang="en-IN"/>
          </a:p>
        </p:txBody>
      </p:sp>
      <p:sp>
        <p:nvSpPr>
          <p:cNvPr id="1048610" name="Text 14"/>
          <p:cNvSpPr/>
          <p:nvPr/>
        </p:nvSpPr>
        <p:spPr>
          <a:xfrm>
            <a:off x="640080" y="6473952"/>
            <a:ext cx="548640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00" kern="0" lang="en-US" spc="100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dirty="0" sz="1000" lang="en-US"/>
          </a:p>
        </p:txBody>
      </p:sp>
      <p:sp>
        <p:nvSpPr>
          <p:cNvPr id="1048611" name="Text 15"/>
          <p:cNvSpPr/>
          <p:nvPr/>
        </p:nvSpPr>
        <p:spPr>
          <a:xfrm>
            <a:off x="10728655" y="6473952"/>
            <a:ext cx="100584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dirty="0" sz="1000" lang="en-US"/>
          </a:p>
        </p:txBody>
      </p:sp>
      <p:sp>
        <p:nvSpPr>
          <p:cNvPr id="1048612" name="Text 16"/>
          <p:cNvSpPr/>
          <p:nvPr/>
        </p:nvSpPr>
        <p:spPr>
          <a:xfrm>
            <a:off x="4267048" y="6473952"/>
            <a:ext cx="3657600" cy="2743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900" kern="0" lang="en-US" spc="200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ATTENDANCE • AI</a:t>
            </a:r>
            <a:endParaRPr dirty="0" sz="900"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Shape 0"/>
          <p:cNvSpPr/>
          <p:nvPr/>
        </p:nvSpPr>
        <p:spPr>
          <a:xfrm>
            <a:off x="640080" y="457200"/>
            <a:ext cx="1664208" cy="310896"/>
          </a:xfrm>
          <a:prstGeom prst="roundRect">
            <a:avLst>
              <a:gd name="adj" fmla="val 50000"/>
            </a:avLst>
          </a:prstGeom>
          <a:solidFill>
            <a:srgbClr val="F3F5FC"/>
          </a:solidFill>
          <a:ln w="9525">
            <a:solidFill>
              <a:srgbClr val="0086A8"/>
            </a:solidFill>
            <a:prstDash val="solid"/>
          </a:ln>
        </p:spPr>
        <p:txBody>
          <a:bodyPr/>
          <a:p>
            <a:endParaRPr lang="en-IN"/>
          </a:p>
        </p:txBody>
      </p:sp>
      <p:sp>
        <p:nvSpPr>
          <p:cNvPr id="1048617" name="Text 1"/>
          <p:cNvSpPr/>
          <p:nvPr/>
        </p:nvSpPr>
        <p:spPr>
          <a:xfrm>
            <a:off x="640080" y="448056"/>
            <a:ext cx="1664208" cy="310896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100" kern="0" lang="en-US" spc="200">
                <a:solidFill>
                  <a:srgbClr val="00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dirty="0" sz="1100" lang="en-US"/>
          </a:p>
        </p:txBody>
      </p:sp>
      <p:sp>
        <p:nvSpPr>
          <p:cNvPr id="1048618" name="Text 2"/>
          <p:cNvSpPr/>
          <p:nvPr/>
        </p:nvSpPr>
        <p:spPr>
          <a:xfrm>
            <a:off x="640080" y="868680"/>
            <a:ext cx="914400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200" lang="en-US">
                <a:solidFill>
                  <a:srgbClr val="0A0E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Proposed Solution</a:t>
            </a:r>
            <a:endParaRPr dirty="0" sz="3200" lang="en-US"/>
          </a:p>
        </p:txBody>
      </p:sp>
      <p:pic>
        <p:nvPicPr>
          <p:cNvPr id="2097161" name="Image 0" descr="/home/claude/cloudppt/assets/face_id_0086A8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640080" y="1709928"/>
            <a:ext cx="256032" cy="256032"/>
          </a:xfrm>
          <a:prstGeom prst="rect"/>
        </p:spPr>
      </p:pic>
      <p:sp>
        <p:nvSpPr>
          <p:cNvPr id="1048619" name="Text 3"/>
          <p:cNvSpPr/>
          <p:nvPr/>
        </p:nvSpPr>
        <p:spPr>
          <a:xfrm>
            <a:off x="1024128" y="1636776"/>
            <a:ext cx="10497312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Face Recognition</a:t>
            </a:r>
            <a:endParaRPr dirty="0" sz="1600" lang="en-US"/>
          </a:p>
        </p:txBody>
      </p:sp>
      <p:sp>
        <p:nvSpPr>
          <p:cNvPr id="1048620" name="Text 4"/>
          <p:cNvSpPr/>
          <p:nvPr/>
        </p:nvSpPr>
        <p:spPr>
          <a:xfrm>
            <a:off x="1024128" y="1929384"/>
            <a:ext cx="10497312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Deep-learning models identify each student instantly and accurately.</a:t>
            </a:r>
            <a:endParaRPr dirty="0" sz="1250" lang="en-US"/>
          </a:p>
        </p:txBody>
      </p:sp>
      <p:pic>
        <p:nvPicPr>
          <p:cNvPr id="2097162" name="Image 1" descr="/home/claude/cloudppt/assets/cloud_upload_0086A8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40080" y="2551176"/>
            <a:ext cx="256032" cy="256032"/>
          </a:xfrm>
          <a:prstGeom prst="rect"/>
        </p:spPr>
      </p:pic>
      <p:sp>
        <p:nvSpPr>
          <p:cNvPr id="1048621" name="Text 5"/>
          <p:cNvSpPr/>
          <p:nvPr/>
        </p:nvSpPr>
        <p:spPr>
          <a:xfrm>
            <a:off x="1024128" y="2478024"/>
            <a:ext cx="10497312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Integration</a:t>
            </a:r>
            <a:endParaRPr dirty="0" sz="1600" lang="en-US"/>
          </a:p>
        </p:txBody>
      </p:sp>
      <p:sp>
        <p:nvSpPr>
          <p:cNvPr id="1048622" name="Text 6"/>
          <p:cNvSpPr/>
          <p:nvPr/>
        </p:nvSpPr>
        <p:spPr>
          <a:xfrm>
            <a:off x="1024128" y="2770632"/>
            <a:ext cx="10497312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&amp; student data synced securely to the cloud.</a:t>
            </a:r>
            <a:endParaRPr dirty="0" sz="1250" lang="en-US"/>
          </a:p>
        </p:txBody>
      </p:sp>
      <p:pic>
        <p:nvPicPr>
          <p:cNvPr id="2097163" name="Image 2" descr="/home/claude/cloudppt/assets/robot_0086A8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640080" y="3392424"/>
            <a:ext cx="256032" cy="256032"/>
          </a:xfrm>
          <a:prstGeom prst="rect"/>
        </p:spPr>
      </p:pic>
      <p:sp>
        <p:nvSpPr>
          <p:cNvPr id="1048623" name="Text 7"/>
          <p:cNvSpPr/>
          <p:nvPr/>
        </p:nvSpPr>
        <p:spPr>
          <a:xfrm>
            <a:off x="1024128" y="3319272"/>
            <a:ext cx="10497312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Attendance Marking</a:t>
            </a:r>
            <a:endParaRPr dirty="0" sz="1600" lang="en-US"/>
          </a:p>
        </p:txBody>
      </p:sp>
      <p:sp>
        <p:nvSpPr>
          <p:cNvPr id="1048624" name="Text 8"/>
          <p:cNvSpPr/>
          <p:nvPr/>
        </p:nvSpPr>
        <p:spPr>
          <a:xfrm>
            <a:off x="1024128" y="3611880"/>
            <a:ext cx="10497312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entry — attendance logs itself once a face is verified.</a:t>
            </a:r>
            <a:endParaRPr dirty="0" sz="1250" lang="en-US"/>
          </a:p>
        </p:txBody>
      </p:sp>
      <p:pic>
        <p:nvPicPr>
          <p:cNvPr id="2097164" name="Image 3" descr="/home/claude/cloudppt/assets/radar_0086A8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640080" y="4233672"/>
            <a:ext cx="256032" cy="256032"/>
          </a:xfrm>
          <a:prstGeom prst="rect"/>
        </p:spPr>
      </p:pic>
      <p:sp>
        <p:nvSpPr>
          <p:cNvPr id="1048625" name="Text 9"/>
          <p:cNvSpPr/>
          <p:nvPr/>
        </p:nvSpPr>
        <p:spPr>
          <a:xfrm>
            <a:off x="1024128" y="4160520"/>
            <a:ext cx="10497312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</a:t>
            </a:r>
            <a:endParaRPr dirty="0" sz="1600" lang="en-US"/>
          </a:p>
        </p:txBody>
      </p:sp>
      <p:sp>
        <p:nvSpPr>
          <p:cNvPr id="1048626" name="Text 10"/>
          <p:cNvSpPr/>
          <p:nvPr/>
        </p:nvSpPr>
        <p:spPr>
          <a:xfrm>
            <a:off x="1024128" y="4453128"/>
            <a:ext cx="10497312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see attendance update live, class by class.</a:t>
            </a:r>
            <a:endParaRPr dirty="0" sz="1250" lang="en-US"/>
          </a:p>
        </p:txBody>
      </p:sp>
      <p:pic>
        <p:nvPicPr>
          <p:cNvPr id="2097165" name="Image 4" descr="/home/claude/cloudppt/assets/chart_0086A8.png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640080" y="5074920"/>
            <a:ext cx="256032" cy="256032"/>
          </a:xfrm>
          <a:prstGeom prst="rect"/>
        </p:spPr>
      </p:pic>
      <p:sp>
        <p:nvSpPr>
          <p:cNvPr id="1048627" name="Text 11"/>
          <p:cNvSpPr/>
          <p:nvPr/>
        </p:nvSpPr>
        <p:spPr>
          <a:xfrm>
            <a:off x="1024128" y="5001768"/>
            <a:ext cx="10497312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Analytics Dashboard</a:t>
            </a:r>
            <a:endParaRPr dirty="0" sz="1600" lang="en-US"/>
          </a:p>
        </p:txBody>
      </p:sp>
      <p:sp>
        <p:nvSpPr>
          <p:cNvPr id="1048628" name="Text 12"/>
          <p:cNvSpPr/>
          <p:nvPr/>
        </p:nvSpPr>
        <p:spPr>
          <a:xfrm>
            <a:off x="1024128" y="5294376"/>
            <a:ext cx="10497312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insights, trends and exportable reports.</a:t>
            </a:r>
            <a:endParaRPr dirty="0" sz="1250" lang="en-US"/>
          </a:p>
        </p:txBody>
      </p:sp>
      <p:sp>
        <p:nvSpPr>
          <p:cNvPr id="1048629" name="Shape 13"/>
          <p:cNvSpPr/>
          <p:nvPr/>
        </p:nvSpPr>
        <p:spPr>
          <a:xfrm>
            <a:off x="640080" y="6355080"/>
            <a:ext cx="10911535" cy="0"/>
          </a:xfrm>
          <a:prstGeom prst="line"/>
          <a:noFill/>
          <a:ln w="12700">
            <a:solidFill>
              <a:srgbClr val="DCE1F2"/>
            </a:solidFill>
            <a:prstDash val="solid"/>
          </a:ln>
        </p:spPr>
        <p:txBody>
          <a:bodyPr/>
          <a:p>
            <a:endParaRPr lang="en-IN"/>
          </a:p>
        </p:txBody>
      </p:sp>
      <p:sp>
        <p:nvSpPr>
          <p:cNvPr id="1048630" name="Text 14"/>
          <p:cNvSpPr/>
          <p:nvPr/>
        </p:nvSpPr>
        <p:spPr>
          <a:xfrm>
            <a:off x="640080" y="6473952"/>
            <a:ext cx="548640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00" kern="0" lang="en-US" spc="100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dirty="0" sz="1000" lang="en-US"/>
          </a:p>
        </p:txBody>
      </p:sp>
      <p:sp>
        <p:nvSpPr>
          <p:cNvPr id="1048631" name="Text 15"/>
          <p:cNvSpPr/>
          <p:nvPr/>
        </p:nvSpPr>
        <p:spPr>
          <a:xfrm>
            <a:off x="10728655" y="6473952"/>
            <a:ext cx="100584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dirty="0" sz="1000" lang="en-US"/>
          </a:p>
        </p:txBody>
      </p:sp>
      <p:sp>
        <p:nvSpPr>
          <p:cNvPr id="1048632" name="Text 16"/>
          <p:cNvSpPr/>
          <p:nvPr/>
        </p:nvSpPr>
        <p:spPr>
          <a:xfrm>
            <a:off x="4267048" y="6473952"/>
            <a:ext cx="3657600" cy="2743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900" kern="0" lang="en-US" spc="200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ATTENDANCE • AI</a:t>
            </a:r>
            <a:endParaRPr dirty="0" sz="900"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Shape 0"/>
          <p:cNvSpPr/>
          <p:nvPr/>
        </p:nvSpPr>
        <p:spPr>
          <a:xfrm>
            <a:off x="640080" y="457200"/>
            <a:ext cx="1664208" cy="310896"/>
          </a:xfrm>
          <a:prstGeom prst="roundRect">
            <a:avLst>
              <a:gd name="adj" fmla="val 50000"/>
            </a:avLst>
          </a:prstGeom>
          <a:solidFill>
            <a:srgbClr val="F3F5FC"/>
          </a:solidFill>
          <a:ln w="9525">
            <a:solidFill>
              <a:srgbClr val="0086A8"/>
            </a:solidFill>
            <a:prstDash val="solid"/>
          </a:ln>
        </p:spPr>
        <p:txBody>
          <a:bodyPr/>
          <a:p>
            <a:endParaRPr lang="en-IN"/>
          </a:p>
        </p:txBody>
      </p:sp>
      <p:sp>
        <p:nvSpPr>
          <p:cNvPr id="1048637" name="Text 1"/>
          <p:cNvSpPr/>
          <p:nvPr/>
        </p:nvSpPr>
        <p:spPr>
          <a:xfrm>
            <a:off x="640080" y="448056"/>
            <a:ext cx="1664208" cy="310896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100" kern="0" lang="en-US" spc="200">
                <a:solidFill>
                  <a:srgbClr val="00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dirty="0" sz="1100" lang="en-US"/>
          </a:p>
        </p:txBody>
      </p:sp>
      <p:sp>
        <p:nvSpPr>
          <p:cNvPr id="1048638" name="Text 2"/>
          <p:cNvSpPr/>
          <p:nvPr/>
        </p:nvSpPr>
        <p:spPr>
          <a:xfrm>
            <a:off x="640080" y="868680"/>
            <a:ext cx="914400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200" lang="en-US">
                <a:solidFill>
                  <a:srgbClr val="0A0E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System Architecture</a:t>
            </a:r>
            <a:endParaRPr dirty="0" sz="3200" lang="en-US"/>
          </a:p>
        </p:txBody>
      </p:sp>
      <p:pic>
        <p:nvPicPr>
          <p:cNvPr id="2097166" name="Image 0" descr="/home/claude/cloudppt/assets/users_0086A8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640080" y="1709928"/>
            <a:ext cx="256032" cy="256032"/>
          </a:xfrm>
          <a:prstGeom prst="rect"/>
        </p:spPr>
      </p:pic>
      <p:sp>
        <p:nvSpPr>
          <p:cNvPr id="1048639" name="Text 3"/>
          <p:cNvSpPr/>
          <p:nvPr/>
        </p:nvSpPr>
        <p:spPr>
          <a:xfrm>
            <a:off x="1024128" y="1636776"/>
            <a:ext cx="5010912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Student Face</a:t>
            </a:r>
            <a:endParaRPr dirty="0" sz="1400" lang="en-US"/>
          </a:p>
        </p:txBody>
      </p:sp>
      <p:sp>
        <p:nvSpPr>
          <p:cNvPr id="1048640" name="Text 4"/>
          <p:cNvSpPr/>
          <p:nvPr/>
        </p:nvSpPr>
        <p:spPr>
          <a:xfrm>
            <a:off x="1024128" y="1929384"/>
            <a:ext cx="5010912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50" lang="en-US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presents face to the camera on entry</a:t>
            </a:r>
            <a:endParaRPr dirty="0" sz="1050" lang="en-US"/>
          </a:p>
        </p:txBody>
      </p:sp>
      <p:pic>
        <p:nvPicPr>
          <p:cNvPr id="2097167" name="Image 1" descr="/home/claude/cloudppt/assets/camera_0086A8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40080" y="2551176"/>
            <a:ext cx="256032" cy="256032"/>
          </a:xfrm>
          <a:prstGeom prst="rect"/>
        </p:spPr>
      </p:pic>
      <p:sp>
        <p:nvSpPr>
          <p:cNvPr id="1048641" name="Text 5"/>
          <p:cNvSpPr/>
          <p:nvPr/>
        </p:nvSpPr>
        <p:spPr>
          <a:xfrm>
            <a:off x="1024128" y="2478024"/>
            <a:ext cx="5010912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Camera Detection</a:t>
            </a:r>
            <a:endParaRPr dirty="0" sz="1400" lang="en-US"/>
          </a:p>
        </p:txBody>
      </p:sp>
      <p:sp>
        <p:nvSpPr>
          <p:cNvPr id="1048642" name="Text 6"/>
          <p:cNvSpPr/>
          <p:nvPr/>
        </p:nvSpPr>
        <p:spPr>
          <a:xfrm>
            <a:off x="1024128" y="2770632"/>
            <a:ext cx="5010912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50" lang="en-US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camera captures live video frame</a:t>
            </a:r>
            <a:endParaRPr dirty="0" sz="1050" lang="en-US"/>
          </a:p>
        </p:txBody>
      </p:sp>
      <p:pic>
        <p:nvPicPr>
          <p:cNvPr id="2097168" name="Image 2" descr="/home/claude/cloudppt/assets/face_id_0086A8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640080" y="3392424"/>
            <a:ext cx="256032" cy="256032"/>
          </a:xfrm>
          <a:prstGeom prst="rect"/>
        </p:spPr>
      </p:pic>
      <p:sp>
        <p:nvSpPr>
          <p:cNvPr id="1048643" name="Text 7"/>
          <p:cNvSpPr/>
          <p:nvPr/>
        </p:nvSpPr>
        <p:spPr>
          <a:xfrm>
            <a:off x="1024128" y="3319272"/>
            <a:ext cx="5010912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Face Recognition</a:t>
            </a:r>
            <a:endParaRPr dirty="0" sz="1400" lang="en-US"/>
          </a:p>
        </p:txBody>
      </p:sp>
      <p:sp>
        <p:nvSpPr>
          <p:cNvPr id="1048644" name="Text 8"/>
          <p:cNvSpPr/>
          <p:nvPr/>
        </p:nvSpPr>
        <p:spPr>
          <a:xfrm>
            <a:off x="1024128" y="3611880"/>
            <a:ext cx="5010912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50" lang="en-US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model extracts facial embeddings</a:t>
            </a:r>
            <a:endParaRPr dirty="0" sz="1050" lang="en-US"/>
          </a:p>
        </p:txBody>
      </p:sp>
      <p:pic>
        <p:nvPicPr>
          <p:cNvPr id="2097169" name="Image 3" descr="/home/claude/cloudppt/assets/shield_check_0086A8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640080" y="4233672"/>
            <a:ext cx="256032" cy="256032"/>
          </a:xfrm>
          <a:prstGeom prst="rect"/>
        </p:spPr>
      </p:pic>
      <p:sp>
        <p:nvSpPr>
          <p:cNvPr id="1048645" name="Text 9"/>
          <p:cNvSpPr/>
          <p:nvPr/>
        </p:nvSpPr>
        <p:spPr>
          <a:xfrm>
            <a:off x="1024128" y="4160520"/>
            <a:ext cx="5010912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AI Verification</a:t>
            </a:r>
            <a:endParaRPr dirty="0" sz="1400" lang="en-US"/>
          </a:p>
        </p:txBody>
      </p:sp>
      <p:sp>
        <p:nvSpPr>
          <p:cNvPr id="1048646" name="Text 10"/>
          <p:cNvSpPr/>
          <p:nvPr/>
        </p:nvSpPr>
        <p:spPr>
          <a:xfrm>
            <a:off x="1024128" y="4453128"/>
            <a:ext cx="5010912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50" lang="en-US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confidence checked vs. database</a:t>
            </a:r>
            <a:endParaRPr dirty="0" sz="1050" lang="en-US"/>
          </a:p>
        </p:txBody>
      </p:sp>
      <p:pic>
        <p:nvPicPr>
          <p:cNvPr id="2097170" name="Image 4" descr="/home/claude/cloudppt/assets/database_0086A8.png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6400800" y="1709928"/>
            <a:ext cx="256032" cy="256032"/>
          </a:xfrm>
          <a:prstGeom prst="rect"/>
        </p:spPr>
      </p:pic>
      <p:sp>
        <p:nvSpPr>
          <p:cNvPr id="1048647" name="Text 11"/>
          <p:cNvSpPr/>
          <p:nvPr/>
        </p:nvSpPr>
        <p:spPr>
          <a:xfrm>
            <a:off x="6784848" y="1636776"/>
            <a:ext cx="5010912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Cloud Database</a:t>
            </a:r>
            <a:endParaRPr dirty="0" sz="1400" lang="en-US"/>
          </a:p>
        </p:txBody>
      </p:sp>
      <p:sp>
        <p:nvSpPr>
          <p:cNvPr id="1048648" name="Text 12"/>
          <p:cNvSpPr/>
          <p:nvPr/>
        </p:nvSpPr>
        <p:spPr>
          <a:xfrm>
            <a:off x="6784848" y="1929384"/>
            <a:ext cx="5010912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50" lang="en-US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record stored &amp; synced</a:t>
            </a:r>
            <a:endParaRPr dirty="0" sz="1050" lang="en-US"/>
          </a:p>
        </p:txBody>
      </p:sp>
      <p:pic>
        <p:nvPicPr>
          <p:cNvPr id="2097171" name="Image 5" descr="/home/claude/cloudppt/assets/gear_0086A8.png"/>
          <p:cNvPicPr>
            <a:picLocks noChangeAspect="1"/>
          </p:cNvPicPr>
          <p:nvPr/>
        </p:nvPicPr>
        <p:blipFill>
          <a:blip xmlns:r="http://schemas.openxmlformats.org/officeDocument/2006/relationships" r:embed="rId6"/>
          <a:stretch>
            <a:fillRect/>
          </a:stretch>
        </p:blipFill>
        <p:spPr>
          <a:xfrm>
            <a:off x="6400800" y="2551176"/>
            <a:ext cx="256032" cy="256032"/>
          </a:xfrm>
          <a:prstGeom prst="rect"/>
        </p:spPr>
      </p:pic>
      <p:sp>
        <p:nvSpPr>
          <p:cNvPr id="1048649" name="Text 13"/>
          <p:cNvSpPr/>
          <p:nvPr/>
        </p:nvSpPr>
        <p:spPr>
          <a:xfrm>
            <a:off x="6784848" y="2478024"/>
            <a:ext cx="5010912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Attendance Processing</a:t>
            </a:r>
            <a:endParaRPr dirty="0" sz="1400" lang="en-US"/>
          </a:p>
        </p:txBody>
      </p:sp>
      <p:sp>
        <p:nvSpPr>
          <p:cNvPr id="1048650" name="Text 14"/>
          <p:cNvSpPr/>
          <p:nvPr/>
        </p:nvSpPr>
        <p:spPr>
          <a:xfrm>
            <a:off x="6784848" y="2770632"/>
            <a:ext cx="5010912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50" lang="en-US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timestamp, subject &amp; status logged</a:t>
            </a:r>
            <a:endParaRPr dirty="0" sz="1050" lang="en-US"/>
          </a:p>
        </p:txBody>
      </p:sp>
      <p:pic>
        <p:nvPicPr>
          <p:cNvPr id="2097172" name="Image 6" descr="/home/claude/cloudppt/assets/dashboard_0086A8.png"/>
          <p:cNvPicPr>
            <a:picLocks noChangeAspect="1"/>
          </p:cNvPicPr>
          <p:nvPr/>
        </p:nvPicPr>
        <p:blipFill>
          <a:blip xmlns:r="http://schemas.openxmlformats.org/officeDocument/2006/relationships" r:embed="rId7"/>
          <a:stretch>
            <a:fillRect/>
          </a:stretch>
        </p:blipFill>
        <p:spPr>
          <a:xfrm>
            <a:off x="6400800" y="3392424"/>
            <a:ext cx="256032" cy="256032"/>
          </a:xfrm>
          <a:prstGeom prst="rect"/>
        </p:spPr>
      </p:pic>
      <p:sp>
        <p:nvSpPr>
          <p:cNvPr id="1048651" name="Text 15"/>
          <p:cNvSpPr/>
          <p:nvPr/>
        </p:nvSpPr>
        <p:spPr>
          <a:xfrm>
            <a:off x="6784848" y="3319272"/>
            <a:ext cx="5010912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Faculty Dashboard</a:t>
            </a:r>
            <a:endParaRPr dirty="0" sz="1400" lang="en-US"/>
          </a:p>
        </p:txBody>
      </p:sp>
      <p:sp>
        <p:nvSpPr>
          <p:cNvPr id="1048652" name="Text 16"/>
          <p:cNvSpPr/>
          <p:nvPr/>
        </p:nvSpPr>
        <p:spPr>
          <a:xfrm>
            <a:off x="6784848" y="3611880"/>
            <a:ext cx="5010912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50" lang="en-US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status visible to faculty</a:t>
            </a:r>
            <a:endParaRPr dirty="0" sz="1050" lang="en-US"/>
          </a:p>
        </p:txBody>
      </p:sp>
      <p:pic>
        <p:nvPicPr>
          <p:cNvPr id="2097173" name="Image 7" descr="/home/claude/cloudppt/assets/report_0086A8.png"/>
          <p:cNvPicPr>
            <a:picLocks noChangeAspect="1"/>
          </p:cNvPicPr>
          <p:nvPr/>
        </p:nvPicPr>
        <p:blipFill>
          <a:blip xmlns:r="http://schemas.openxmlformats.org/officeDocument/2006/relationships" r:embed="rId8"/>
          <a:stretch>
            <a:fillRect/>
          </a:stretch>
        </p:blipFill>
        <p:spPr>
          <a:xfrm>
            <a:off x="6400800" y="4233672"/>
            <a:ext cx="256032" cy="256032"/>
          </a:xfrm>
          <a:prstGeom prst="rect"/>
        </p:spPr>
      </p:pic>
      <p:sp>
        <p:nvSpPr>
          <p:cNvPr id="1048653" name="Text 17"/>
          <p:cNvSpPr/>
          <p:nvPr/>
        </p:nvSpPr>
        <p:spPr>
          <a:xfrm>
            <a:off x="6784848" y="4160520"/>
            <a:ext cx="5010912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Reports Generation</a:t>
            </a:r>
            <a:endParaRPr dirty="0" sz="1400" lang="en-US"/>
          </a:p>
        </p:txBody>
      </p:sp>
      <p:sp>
        <p:nvSpPr>
          <p:cNvPr id="1048654" name="Text 18"/>
          <p:cNvSpPr/>
          <p:nvPr/>
        </p:nvSpPr>
        <p:spPr>
          <a:xfrm>
            <a:off x="6784848" y="4453128"/>
            <a:ext cx="5010912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50" lang="en-US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analytics &amp; exportable reports</a:t>
            </a:r>
            <a:endParaRPr dirty="0" sz="1050" lang="en-US"/>
          </a:p>
        </p:txBody>
      </p:sp>
      <p:sp>
        <p:nvSpPr>
          <p:cNvPr id="1048655" name="Shape 19"/>
          <p:cNvSpPr/>
          <p:nvPr/>
        </p:nvSpPr>
        <p:spPr>
          <a:xfrm>
            <a:off x="640080" y="6355080"/>
            <a:ext cx="10911535" cy="0"/>
          </a:xfrm>
          <a:prstGeom prst="line"/>
          <a:noFill/>
          <a:ln w="12700">
            <a:solidFill>
              <a:srgbClr val="DCE1F2"/>
            </a:solidFill>
            <a:prstDash val="solid"/>
          </a:ln>
        </p:spPr>
        <p:txBody>
          <a:bodyPr/>
          <a:p>
            <a:endParaRPr lang="en-IN"/>
          </a:p>
        </p:txBody>
      </p:sp>
      <p:sp>
        <p:nvSpPr>
          <p:cNvPr id="1048656" name="Text 20"/>
          <p:cNvSpPr/>
          <p:nvPr/>
        </p:nvSpPr>
        <p:spPr>
          <a:xfrm>
            <a:off x="640080" y="6473952"/>
            <a:ext cx="548640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00" kern="0" lang="en-US" spc="100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dirty="0" sz="1000" lang="en-US"/>
          </a:p>
        </p:txBody>
      </p:sp>
      <p:sp>
        <p:nvSpPr>
          <p:cNvPr id="1048657" name="Text 21"/>
          <p:cNvSpPr/>
          <p:nvPr/>
        </p:nvSpPr>
        <p:spPr>
          <a:xfrm>
            <a:off x="10728655" y="6473952"/>
            <a:ext cx="100584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dirty="0" sz="1000" lang="en-US"/>
          </a:p>
        </p:txBody>
      </p:sp>
      <p:sp>
        <p:nvSpPr>
          <p:cNvPr id="1048658" name="Text 22"/>
          <p:cNvSpPr/>
          <p:nvPr/>
        </p:nvSpPr>
        <p:spPr>
          <a:xfrm>
            <a:off x="4267048" y="6473952"/>
            <a:ext cx="3657600" cy="2743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900" kern="0" lang="en-US" spc="200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ATTENDANCE • AI</a:t>
            </a:r>
            <a:endParaRPr dirty="0" sz="900"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2" name="Shape 0"/>
          <p:cNvSpPr/>
          <p:nvPr/>
        </p:nvSpPr>
        <p:spPr>
          <a:xfrm>
            <a:off x="640080" y="45720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3F5FC"/>
          </a:solidFill>
          <a:ln w="9525">
            <a:solidFill>
              <a:srgbClr val="0086A8"/>
            </a:solidFill>
            <a:prstDash val="solid"/>
          </a:ln>
        </p:spPr>
        <p:txBody>
          <a:bodyPr/>
          <a:p>
            <a:endParaRPr lang="en-IN"/>
          </a:p>
        </p:txBody>
      </p:sp>
      <p:sp>
        <p:nvSpPr>
          <p:cNvPr id="1048663" name="Text 1"/>
          <p:cNvSpPr/>
          <p:nvPr/>
        </p:nvSpPr>
        <p:spPr>
          <a:xfrm>
            <a:off x="640080" y="448056"/>
            <a:ext cx="1463040" cy="310896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100" kern="0" lang="en-US" spc="200">
                <a:solidFill>
                  <a:srgbClr val="00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dirty="0" sz="1100" lang="en-US"/>
          </a:p>
        </p:txBody>
      </p:sp>
      <p:sp>
        <p:nvSpPr>
          <p:cNvPr id="1048664" name="Text 2"/>
          <p:cNvSpPr/>
          <p:nvPr/>
        </p:nvSpPr>
        <p:spPr>
          <a:xfrm>
            <a:off x="640080" y="868680"/>
            <a:ext cx="914400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200" lang="en-US">
                <a:solidFill>
                  <a:srgbClr val="0A0E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Technologies Powering the System</a:t>
            </a:r>
            <a:endParaRPr dirty="0" sz="3200" lang="en-US"/>
          </a:p>
        </p:txBody>
      </p:sp>
      <p:pic>
        <p:nvPicPr>
          <p:cNvPr id="2097174" name="Image 0" descr="/home/claude/cloudppt/assets/face_id_0086A8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640080" y="1709928"/>
            <a:ext cx="256032" cy="256032"/>
          </a:xfrm>
          <a:prstGeom prst="rect"/>
        </p:spPr>
      </p:pic>
      <p:sp>
        <p:nvSpPr>
          <p:cNvPr id="1048665" name="Text 3"/>
          <p:cNvSpPr/>
          <p:nvPr/>
        </p:nvSpPr>
        <p:spPr>
          <a:xfrm>
            <a:off x="1024128" y="1636776"/>
            <a:ext cx="3136392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50" lang="en-US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</a:t>
            </a:r>
            <a:endParaRPr dirty="0" sz="1350" lang="en-US"/>
          </a:p>
        </p:txBody>
      </p:sp>
      <p:sp>
        <p:nvSpPr>
          <p:cNvPr id="1048666" name="Text 4"/>
          <p:cNvSpPr/>
          <p:nvPr/>
        </p:nvSpPr>
        <p:spPr>
          <a:xfrm>
            <a:off x="1024128" y="1929384"/>
            <a:ext cx="3136392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00" lang="en-US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matching engine</a:t>
            </a:r>
            <a:endParaRPr dirty="0" sz="1000" lang="en-US"/>
          </a:p>
        </p:txBody>
      </p:sp>
      <p:pic>
        <p:nvPicPr>
          <p:cNvPr id="2097175" name="Image 1" descr="/home/claude/cloudppt/assets/brain_0086A8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40080" y="2990088"/>
            <a:ext cx="256032" cy="256032"/>
          </a:xfrm>
          <a:prstGeom prst="rect"/>
        </p:spPr>
      </p:pic>
      <p:sp>
        <p:nvSpPr>
          <p:cNvPr id="1048667" name="Text 5"/>
          <p:cNvSpPr/>
          <p:nvPr/>
        </p:nvSpPr>
        <p:spPr>
          <a:xfrm>
            <a:off x="1024128" y="2916936"/>
            <a:ext cx="3136392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50" lang="en-US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dirty="0" sz="1350" lang="en-US"/>
          </a:p>
        </p:txBody>
      </p:sp>
      <p:sp>
        <p:nvSpPr>
          <p:cNvPr id="1048668" name="Text 6"/>
          <p:cNvSpPr/>
          <p:nvPr/>
        </p:nvSpPr>
        <p:spPr>
          <a:xfrm>
            <a:off x="1024128" y="3209544"/>
            <a:ext cx="3136392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00" lang="en-US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intelligence layer</a:t>
            </a:r>
            <a:endParaRPr dirty="0" sz="1000" lang="en-US"/>
          </a:p>
        </p:txBody>
      </p:sp>
      <p:pic>
        <p:nvPicPr>
          <p:cNvPr id="2097176" name="Image 2" descr="/home/claude/cloudppt/assets/cloud_0086A8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640080" y="4270248"/>
            <a:ext cx="256032" cy="256032"/>
          </a:xfrm>
          <a:prstGeom prst="rect"/>
        </p:spPr>
      </p:pic>
      <p:sp>
        <p:nvSpPr>
          <p:cNvPr id="1048669" name="Text 7"/>
          <p:cNvSpPr/>
          <p:nvPr/>
        </p:nvSpPr>
        <p:spPr>
          <a:xfrm>
            <a:off x="1024128" y="4197096"/>
            <a:ext cx="3136392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50" lang="en-US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</a:t>
            </a:r>
            <a:endParaRPr dirty="0" sz="1350" lang="en-US"/>
          </a:p>
        </p:txBody>
      </p:sp>
      <p:sp>
        <p:nvSpPr>
          <p:cNvPr id="1048670" name="Text 8"/>
          <p:cNvSpPr/>
          <p:nvPr/>
        </p:nvSpPr>
        <p:spPr>
          <a:xfrm>
            <a:off x="1024128" y="4489704"/>
            <a:ext cx="3136392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00" lang="en-US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infrastructure</a:t>
            </a:r>
            <a:endParaRPr dirty="0" sz="1000" lang="en-US"/>
          </a:p>
        </p:txBody>
      </p:sp>
      <p:pic>
        <p:nvPicPr>
          <p:cNvPr id="2097177" name="Image 3" descr="/home/claude/cloudppt/assets/python_0086A8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4343400" y="1709928"/>
            <a:ext cx="256032" cy="256032"/>
          </a:xfrm>
          <a:prstGeom prst="rect"/>
        </p:spPr>
      </p:pic>
      <p:sp>
        <p:nvSpPr>
          <p:cNvPr id="1048671" name="Text 9"/>
          <p:cNvSpPr/>
          <p:nvPr/>
        </p:nvSpPr>
        <p:spPr>
          <a:xfrm>
            <a:off x="4727448" y="1636776"/>
            <a:ext cx="3136392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50" lang="en-US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dirty="0" sz="1350" lang="en-US"/>
          </a:p>
        </p:txBody>
      </p:sp>
      <p:sp>
        <p:nvSpPr>
          <p:cNvPr id="1048672" name="Text 10"/>
          <p:cNvSpPr/>
          <p:nvPr/>
        </p:nvSpPr>
        <p:spPr>
          <a:xfrm>
            <a:off x="4727448" y="1929384"/>
            <a:ext cx="3136392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00" lang="en-US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programming language</a:t>
            </a:r>
            <a:endParaRPr dirty="0" sz="1000" lang="en-US"/>
          </a:p>
        </p:txBody>
      </p:sp>
      <p:pic>
        <p:nvPicPr>
          <p:cNvPr id="2097178" name="Image 4" descr="/home/claude/cloudppt/assets/scan_0086A8.png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4343400" y="2990088"/>
            <a:ext cx="256032" cy="256032"/>
          </a:xfrm>
          <a:prstGeom prst="rect"/>
        </p:spPr>
      </p:pic>
      <p:sp>
        <p:nvSpPr>
          <p:cNvPr id="1048673" name="Text 11"/>
          <p:cNvSpPr/>
          <p:nvPr/>
        </p:nvSpPr>
        <p:spPr>
          <a:xfrm>
            <a:off x="4727448" y="2916936"/>
            <a:ext cx="3136392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50" lang="en-US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dirty="0" sz="1350" lang="en-US"/>
          </a:p>
        </p:txBody>
      </p:sp>
      <p:sp>
        <p:nvSpPr>
          <p:cNvPr id="1048674" name="Text 12"/>
          <p:cNvSpPr/>
          <p:nvPr/>
        </p:nvSpPr>
        <p:spPr>
          <a:xfrm>
            <a:off x="4727448" y="3209544"/>
            <a:ext cx="3136392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00" lang="en-US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processing</a:t>
            </a:r>
            <a:endParaRPr dirty="0" sz="1000" lang="en-US"/>
          </a:p>
        </p:txBody>
      </p:sp>
      <p:pic>
        <p:nvPicPr>
          <p:cNvPr id="2097179" name="Image 5" descr="/home/claude/cloudppt/assets/chip_ai_0086A8.png"/>
          <p:cNvPicPr>
            <a:picLocks noChangeAspect="1"/>
          </p:cNvPicPr>
          <p:nvPr/>
        </p:nvPicPr>
        <p:blipFill>
          <a:blip xmlns:r="http://schemas.openxmlformats.org/officeDocument/2006/relationships" r:embed="rId6"/>
          <a:stretch>
            <a:fillRect/>
          </a:stretch>
        </p:blipFill>
        <p:spPr>
          <a:xfrm>
            <a:off x="4343400" y="4270248"/>
            <a:ext cx="256032" cy="256032"/>
          </a:xfrm>
          <a:prstGeom prst="rect"/>
        </p:spPr>
      </p:pic>
      <p:sp>
        <p:nvSpPr>
          <p:cNvPr id="1048675" name="Text 13"/>
          <p:cNvSpPr/>
          <p:nvPr/>
        </p:nvSpPr>
        <p:spPr>
          <a:xfrm>
            <a:off x="4727448" y="4197096"/>
            <a:ext cx="3136392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50" lang="en-US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dirty="0" sz="1350" lang="en-US"/>
          </a:p>
        </p:txBody>
      </p:sp>
      <p:sp>
        <p:nvSpPr>
          <p:cNvPr id="1048676" name="Text 14"/>
          <p:cNvSpPr/>
          <p:nvPr/>
        </p:nvSpPr>
        <p:spPr>
          <a:xfrm>
            <a:off x="4727448" y="4489704"/>
            <a:ext cx="3136392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00" lang="en-US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CNN-based model training</a:t>
            </a:r>
            <a:endParaRPr dirty="0" sz="1000" lang="en-US"/>
          </a:p>
        </p:txBody>
      </p:sp>
      <p:pic>
        <p:nvPicPr>
          <p:cNvPr id="2097180" name="Image 6" descr="/home/claude/cloudppt/assets/fire_0086A8.png"/>
          <p:cNvPicPr>
            <a:picLocks noChangeAspect="1"/>
          </p:cNvPicPr>
          <p:nvPr/>
        </p:nvPicPr>
        <p:blipFill>
          <a:blip xmlns:r="http://schemas.openxmlformats.org/officeDocument/2006/relationships" r:embed="rId7"/>
          <a:stretch>
            <a:fillRect/>
          </a:stretch>
        </p:blipFill>
        <p:spPr>
          <a:xfrm>
            <a:off x="8046720" y="1709928"/>
            <a:ext cx="256032" cy="256032"/>
          </a:xfrm>
          <a:prstGeom prst="rect"/>
        </p:spPr>
      </p:pic>
      <p:sp>
        <p:nvSpPr>
          <p:cNvPr id="1048677" name="Text 15"/>
          <p:cNvSpPr/>
          <p:nvPr/>
        </p:nvSpPr>
        <p:spPr>
          <a:xfrm>
            <a:off x="8430768" y="1636776"/>
            <a:ext cx="3136392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50" lang="en-US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/ AWS</a:t>
            </a:r>
            <a:endParaRPr dirty="0" sz="1350" lang="en-US"/>
          </a:p>
        </p:txBody>
      </p:sp>
      <p:sp>
        <p:nvSpPr>
          <p:cNvPr id="1048678" name="Text 16"/>
          <p:cNvSpPr/>
          <p:nvPr/>
        </p:nvSpPr>
        <p:spPr>
          <a:xfrm>
            <a:off x="8430768" y="1929384"/>
            <a:ext cx="3136392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00" lang="en-US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hosting &amp; storage</a:t>
            </a:r>
            <a:endParaRPr dirty="0" sz="1000" lang="en-US"/>
          </a:p>
        </p:txBody>
      </p:sp>
      <p:pic>
        <p:nvPicPr>
          <p:cNvPr id="2097181" name="Image 7" descr="/home/claude/cloudppt/assets/database_0086A8.png"/>
          <p:cNvPicPr>
            <a:picLocks noChangeAspect="1"/>
          </p:cNvPicPr>
          <p:nvPr/>
        </p:nvPicPr>
        <p:blipFill>
          <a:blip xmlns:r="http://schemas.openxmlformats.org/officeDocument/2006/relationships" r:embed="rId8"/>
          <a:stretch>
            <a:fillRect/>
          </a:stretch>
        </p:blipFill>
        <p:spPr>
          <a:xfrm>
            <a:off x="8046720" y="2990088"/>
            <a:ext cx="256032" cy="256032"/>
          </a:xfrm>
          <a:prstGeom prst="rect"/>
        </p:spPr>
      </p:pic>
      <p:sp>
        <p:nvSpPr>
          <p:cNvPr id="1048679" name="Text 17"/>
          <p:cNvSpPr/>
          <p:nvPr/>
        </p:nvSpPr>
        <p:spPr>
          <a:xfrm>
            <a:off x="8430768" y="2916936"/>
            <a:ext cx="3136392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50" lang="en-US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</a:t>
            </a:r>
            <a:endParaRPr dirty="0" sz="1350" lang="en-US"/>
          </a:p>
        </p:txBody>
      </p:sp>
      <p:sp>
        <p:nvSpPr>
          <p:cNvPr id="1048680" name="Text 18"/>
          <p:cNvSpPr/>
          <p:nvPr/>
        </p:nvSpPr>
        <p:spPr>
          <a:xfrm>
            <a:off x="8430768" y="3209544"/>
            <a:ext cx="3136392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00" lang="en-US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attendance records</a:t>
            </a:r>
            <a:endParaRPr dirty="0" sz="1000" lang="en-US"/>
          </a:p>
        </p:txBody>
      </p:sp>
      <p:pic>
        <p:nvPicPr>
          <p:cNvPr id="2097182" name="Image 8" descr="/home/claude/cloudppt/assets/browser_0086A8.png"/>
          <p:cNvPicPr>
            <a:picLocks noChangeAspect="1"/>
          </p:cNvPicPr>
          <p:nvPr/>
        </p:nvPicPr>
        <p:blipFill>
          <a:blip xmlns:r="http://schemas.openxmlformats.org/officeDocument/2006/relationships" r:embed="rId9"/>
          <a:stretch>
            <a:fillRect/>
          </a:stretch>
        </p:blipFill>
        <p:spPr>
          <a:xfrm>
            <a:off x="8046720" y="4270248"/>
            <a:ext cx="256032" cy="256032"/>
          </a:xfrm>
          <a:prstGeom prst="rect"/>
        </p:spPr>
      </p:pic>
      <p:sp>
        <p:nvSpPr>
          <p:cNvPr id="1048681" name="Text 19"/>
          <p:cNvSpPr/>
          <p:nvPr/>
        </p:nvSpPr>
        <p:spPr>
          <a:xfrm>
            <a:off x="8430768" y="4197096"/>
            <a:ext cx="3136392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50" lang="en-US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dirty="0" sz="1350" lang="en-US"/>
          </a:p>
        </p:txBody>
      </p:sp>
      <p:sp>
        <p:nvSpPr>
          <p:cNvPr id="1048682" name="Text 20"/>
          <p:cNvSpPr/>
          <p:nvPr/>
        </p:nvSpPr>
        <p:spPr>
          <a:xfrm>
            <a:off x="8430768" y="4489704"/>
            <a:ext cx="3136392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00" lang="en-US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faculty-facing interface</a:t>
            </a:r>
            <a:endParaRPr dirty="0" sz="1000" lang="en-US"/>
          </a:p>
        </p:txBody>
      </p:sp>
      <p:sp>
        <p:nvSpPr>
          <p:cNvPr id="1048683" name="Shape 21"/>
          <p:cNvSpPr/>
          <p:nvPr/>
        </p:nvSpPr>
        <p:spPr>
          <a:xfrm>
            <a:off x="640080" y="6355080"/>
            <a:ext cx="10911535" cy="0"/>
          </a:xfrm>
          <a:prstGeom prst="line"/>
          <a:noFill/>
          <a:ln w="12700">
            <a:solidFill>
              <a:srgbClr val="DCE1F2"/>
            </a:solidFill>
            <a:prstDash val="solid"/>
          </a:ln>
        </p:spPr>
        <p:txBody>
          <a:bodyPr/>
          <a:p>
            <a:endParaRPr lang="en-IN"/>
          </a:p>
        </p:txBody>
      </p:sp>
      <p:sp>
        <p:nvSpPr>
          <p:cNvPr id="1048684" name="Text 22"/>
          <p:cNvSpPr/>
          <p:nvPr/>
        </p:nvSpPr>
        <p:spPr>
          <a:xfrm>
            <a:off x="640080" y="6473952"/>
            <a:ext cx="548640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00" kern="0" lang="en-US" spc="100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dirty="0" sz="1000" lang="en-US"/>
          </a:p>
        </p:txBody>
      </p:sp>
      <p:sp>
        <p:nvSpPr>
          <p:cNvPr id="1048685" name="Text 23"/>
          <p:cNvSpPr/>
          <p:nvPr/>
        </p:nvSpPr>
        <p:spPr>
          <a:xfrm>
            <a:off x="10728655" y="6473952"/>
            <a:ext cx="100584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dirty="0" sz="1000" lang="en-US"/>
          </a:p>
        </p:txBody>
      </p:sp>
      <p:sp>
        <p:nvSpPr>
          <p:cNvPr id="1048686" name="Text 24"/>
          <p:cNvSpPr/>
          <p:nvPr/>
        </p:nvSpPr>
        <p:spPr>
          <a:xfrm>
            <a:off x="4267048" y="6473952"/>
            <a:ext cx="3657600" cy="2743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900" kern="0" lang="en-US" spc="200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ATTENDANCE • AI</a:t>
            </a:r>
            <a:endParaRPr dirty="0" sz="900"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0" name="Shape 0"/>
          <p:cNvSpPr/>
          <p:nvPr/>
        </p:nvSpPr>
        <p:spPr>
          <a:xfrm>
            <a:off x="640080" y="457200"/>
            <a:ext cx="1664208" cy="310896"/>
          </a:xfrm>
          <a:prstGeom prst="roundRect">
            <a:avLst>
              <a:gd name="adj" fmla="val 50000"/>
            </a:avLst>
          </a:prstGeom>
          <a:solidFill>
            <a:srgbClr val="F3F5FC"/>
          </a:solidFill>
          <a:ln w="9525">
            <a:solidFill>
              <a:srgbClr val="0086A8"/>
            </a:solidFill>
            <a:prstDash val="solid"/>
          </a:ln>
        </p:spPr>
        <p:txBody>
          <a:bodyPr/>
          <a:p>
            <a:endParaRPr lang="en-IN"/>
          </a:p>
        </p:txBody>
      </p:sp>
      <p:sp>
        <p:nvSpPr>
          <p:cNvPr id="1048691" name="Text 1"/>
          <p:cNvSpPr/>
          <p:nvPr/>
        </p:nvSpPr>
        <p:spPr>
          <a:xfrm>
            <a:off x="640080" y="448056"/>
            <a:ext cx="1664208" cy="310896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100" kern="0" lang="en-US" spc="200">
                <a:solidFill>
                  <a:srgbClr val="00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dirty="0" sz="1100" lang="en-US"/>
          </a:p>
        </p:txBody>
      </p:sp>
      <p:sp>
        <p:nvSpPr>
          <p:cNvPr id="1048692" name="Text 2"/>
          <p:cNvSpPr/>
          <p:nvPr/>
        </p:nvSpPr>
        <p:spPr>
          <a:xfrm>
            <a:off x="640080" y="868680"/>
            <a:ext cx="914400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200" lang="en-US">
                <a:solidFill>
                  <a:srgbClr val="0A0E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Working Process</a:t>
            </a:r>
            <a:endParaRPr dirty="0" sz="3200" lang="en-US"/>
          </a:p>
        </p:txBody>
      </p:sp>
      <p:pic>
        <p:nvPicPr>
          <p:cNvPr id="2097183" name="Image 0" descr="/home/claude/cloudppt/assets/door_0086A8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640080" y="1709928"/>
            <a:ext cx="256032" cy="256032"/>
          </a:xfrm>
          <a:prstGeom prst="rect"/>
        </p:spPr>
      </p:pic>
      <p:sp>
        <p:nvSpPr>
          <p:cNvPr id="1048693" name="Text 3"/>
          <p:cNvSpPr/>
          <p:nvPr/>
        </p:nvSpPr>
        <p:spPr>
          <a:xfrm>
            <a:off x="1024128" y="1636776"/>
            <a:ext cx="10497312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700" lang="en-US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Student enters the classroom</a:t>
            </a:r>
            <a:endParaRPr dirty="0" sz="1700" lang="en-US"/>
          </a:p>
        </p:txBody>
      </p:sp>
      <p:pic>
        <p:nvPicPr>
          <p:cNvPr id="2097184" name="Image 1" descr="/home/claude/cloudppt/assets/camera_0086A8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40080" y="2185416"/>
            <a:ext cx="256032" cy="256032"/>
          </a:xfrm>
          <a:prstGeom prst="rect"/>
        </p:spPr>
      </p:pic>
      <p:sp>
        <p:nvSpPr>
          <p:cNvPr id="1048694" name="Text 4"/>
          <p:cNvSpPr/>
          <p:nvPr/>
        </p:nvSpPr>
        <p:spPr>
          <a:xfrm>
            <a:off x="1024128" y="2112264"/>
            <a:ext cx="10497312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700" lang="en-US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Camera captures the face</a:t>
            </a:r>
            <a:endParaRPr dirty="0" sz="1700" lang="en-US"/>
          </a:p>
        </p:txBody>
      </p:sp>
      <p:pic>
        <p:nvPicPr>
          <p:cNvPr id="2097185" name="Image 2" descr="/home/claude/cloudppt/assets/check_circle_0086A8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640080" y="2660904"/>
            <a:ext cx="256032" cy="256032"/>
          </a:xfrm>
          <a:prstGeom prst="rect"/>
        </p:spPr>
      </p:pic>
      <p:sp>
        <p:nvSpPr>
          <p:cNvPr id="1048695" name="Text 5"/>
          <p:cNvSpPr/>
          <p:nvPr/>
        </p:nvSpPr>
        <p:spPr>
          <a:xfrm>
            <a:off x="1024128" y="2587752"/>
            <a:ext cx="10497312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700" lang="en-US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Face gets verified</a:t>
            </a:r>
            <a:endParaRPr dirty="0" sz="1700" lang="en-US"/>
          </a:p>
        </p:txBody>
      </p:sp>
      <p:pic>
        <p:nvPicPr>
          <p:cNvPr id="2097186" name="Image 3" descr="/home/claude/cloudppt/assets/cloud_0086A8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640080" y="3136392"/>
            <a:ext cx="256032" cy="256032"/>
          </a:xfrm>
          <a:prstGeom prst="rect"/>
        </p:spPr>
      </p:pic>
      <p:sp>
        <p:nvSpPr>
          <p:cNvPr id="1048696" name="Text 6"/>
          <p:cNvSpPr/>
          <p:nvPr/>
        </p:nvSpPr>
        <p:spPr>
          <a:xfrm>
            <a:off x="1024128" y="3063240"/>
            <a:ext cx="10497312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700" lang="en-US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Cloud processes the information</a:t>
            </a:r>
            <a:endParaRPr dirty="0" sz="1700" lang="en-US"/>
          </a:p>
        </p:txBody>
      </p:sp>
      <p:pic>
        <p:nvPicPr>
          <p:cNvPr id="2097187" name="Image 4" descr="/home/claude/cloudppt/assets/calendar_check_0086A8.png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640080" y="3611880"/>
            <a:ext cx="256032" cy="256032"/>
          </a:xfrm>
          <a:prstGeom prst="rect"/>
        </p:spPr>
      </p:pic>
      <p:sp>
        <p:nvSpPr>
          <p:cNvPr id="1048697" name="Text 7"/>
          <p:cNvSpPr/>
          <p:nvPr/>
        </p:nvSpPr>
        <p:spPr>
          <a:xfrm>
            <a:off x="1024128" y="3538728"/>
            <a:ext cx="10497312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700" lang="en-US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Attendance gets updated automatically</a:t>
            </a:r>
            <a:endParaRPr dirty="0" sz="1700" lang="en-US"/>
          </a:p>
        </p:txBody>
      </p:sp>
      <p:pic>
        <p:nvPicPr>
          <p:cNvPr id="2097188" name="Image 5" descr="/home/claude/cloudppt/assets/bell_0086A8.png"/>
          <p:cNvPicPr>
            <a:picLocks noChangeAspect="1"/>
          </p:cNvPicPr>
          <p:nvPr/>
        </p:nvPicPr>
        <p:blipFill>
          <a:blip xmlns:r="http://schemas.openxmlformats.org/officeDocument/2006/relationships" r:embed="rId6"/>
          <a:stretch>
            <a:fillRect/>
          </a:stretch>
        </p:blipFill>
        <p:spPr>
          <a:xfrm>
            <a:off x="640080" y="4087368"/>
            <a:ext cx="256032" cy="256032"/>
          </a:xfrm>
          <a:prstGeom prst="rect"/>
        </p:spPr>
      </p:pic>
      <p:sp>
        <p:nvSpPr>
          <p:cNvPr id="1048698" name="Text 8"/>
          <p:cNvSpPr/>
          <p:nvPr/>
        </p:nvSpPr>
        <p:spPr>
          <a:xfrm>
            <a:off x="1024128" y="4014216"/>
            <a:ext cx="10497312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700" lang="en-US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Faculty receives live updates</a:t>
            </a:r>
            <a:endParaRPr dirty="0" sz="1700" lang="en-US"/>
          </a:p>
        </p:txBody>
      </p:sp>
      <p:sp>
        <p:nvSpPr>
          <p:cNvPr id="1048699" name="Shape 9"/>
          <p:cNvSpPr/>
          <p:nvPr/>
        </p:nvSpPr>
        <p:spPr>
          <a:xfrm>
            <a:off x="640080" y="6355080"/>
            <a:ext cx="10911535" cy="0"/>
          </a:xfrm>
          <a:prstGeom prst="line"/>
          <a:noFill/>
          <a:ln w="12700">
            <a:solidFill>
              <a:srgbClr val="DCE1F2"/>
            </a:solidFill>
            <a:prstDash val="solid"/>
          </a:ln>
        </p:spPr>
        <p:txBody>
          <a:bodyPr/>
          <a:p>
            <a:endParaRPr lang="en-IN"/>
          </a:p>
        </p:txBody>
      </p:sp>
      <p:sp>
        <p:nvSpPr>
          <p:cNvPr id="1048700" name="Text 10"/>
          <p:cNvSpPr/>
          <p:nvPr/>
        </p:nvSpPr>
        <p:spPr>
          <a:xfrm>
            <a:off x="640080" y="6473952"/>
            <a:ext cx="548640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00" kern="0" lang="en-US" spc="100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PROCESS</a:t>
            </a:r>
            <a:endParaRPr dirty="0" sz="1000" lang="en-US"/>
          </a:p>
        </p:txBody>
      </p:sp>
      <p:sp>
        <p:nvSpPr>
          <p:cNvPr id="1048701" name="Text 11"/>
          <p:cNvSpPr/>
          <p:nvPr/>
        </p:nvSpPr>
        <p:spPr>
          <a:xfrm>
            <a:off x="10728655" y="6473952"/>
            <a:ext cx="100584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dirty="0" sz="1000" lang="en-US"/>
          </a:p>
        </p:txBody>
      </p:sp>
      <p:sp>
        <p:nvSpPr>
          <p:cNvPr id="1048702" name="Text 12"/>
          <p:cNvSpPr/>
          <p:nvPr/>
        </p:nvSpPr>
        <p:spPr>
          <a:xfrm>
            <a:off x="4267048" y="6473952"/>
            <a:ext cx="3657600" cy="2743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900" kern="0" lang="en-US" spc="200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ATTENDANCE • AI</a:t>
            </a:r>
            <a:endParaRPr dirty="0" sz="900"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6" name="Shape 0"/>
          <p:cNvSpPr/>
          <p:nvPr/>
        </p:nvSpPr>
        <p:spPr>
          <a:xfrm>
            <a:off x="640080" y="457200"/>
            <a:ext cx="1865376" cy="310896"/>
          </a:xfrm>
          <a:prstGeom prst="roundRect">
            <a:avLst>
              <a:gd name="adj" fmla="val 50000"/>
            </a:avLst>
          </a:prstGeom>
          <a:solidFill>
            <a:srgbClr val="F3F5FC"/>
          </a:solidFill>
          <a:ln w="9525">
            <a:solidFill>
              <a:srgbClr val="0086A8"/>
            </a:solidFill>
            <a:prstDash val="solid"/>
          </a:ln>
        </p:spPr>
        <p:txBody>
          <a:bodyPr/>
          <a:p>
            <a:endParaRPr lang="en-IN"/>
          </a:p>
        </p:txBody>
      </p:sp>
      <p:sp>
        <p:nvSpPr>
          <p:cNvPr id="1048707" name="Text 1"/>
          <p:cNvSpPr/>
          <p:nvPr/>
        </p:nvSpPr>
        <p:spPr>
          <a:xfrm>
            <a:off x="640080" y="448056"/>
            <a:ext cx="1865376" cy="310896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100" kern="0" lang="en-US" spc="200">
                <a:solidFill>
                  <a:srgbClr val="00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SAFETY</a:t>
            </a:r>
            <a:endParaRPr dirty="0" sz="1100" lang="en-US"/>
          </a:p>
        </p:txBody>
      </p:sp>
      <p:sp>
        <p:nvSpPr>
          <p:cNvPr id="1048708" name="Text 2"/>
          <p:cNvSpPr/>
          <p:nvPr/>
        </p:nvSpPr>
        <p:spPr>
          <a:xfrm>
            <a:off x="640080" y="868680"/>
            <a:ext cx="914400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200" lang="en-US">
                <a:solidFill>
                  <a:srgbClr val="0A0E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Security Features</a:t>
            </a:r>
            <a:endParaRPr dirty="0" sz="3200" lang="en-US"/>
          </a:p>
        </p:txBody>
      </p:sp>
      <p:pic>
        <p:nvPicPr>
          <p:cNvPr id="2097189" name="Image 0" descr="/home/claude/cloudppt/assets/lock_0086A8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640080" y="1709928"/>
            <a:ext cx="256032" cy="256032"/>
          </a:xfrm>
          <a:prstGeom prst="rect"/>
        </p:spPr>
      </p:pic>
      <p:sp>
        <p:nvSpPr>
          <p:cNvPr id="1048709" name="Text 3"/>
          <p:cNvSpPr/>
          <p:nvPr/>
        </p:nvSpPr>
        <p:spPr>
          <a:xfrm>
            <a:off x="1024128" y="1636776"/>
            <a:ext cx="5010912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500" lang="en-US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Cloud Storage</a:t>
            </a:r>
            <a:endParaRPr dirty="0" sz="1500" lang="en-US"/>
          </a:p>
        </p:txBody>
      </p:sp>
      <p:sp>
        <p:nvSpPr>
          <p:cNvPr id="1048710" name="Text 4"/>
          <p:cNvSpPr/>
          <p:nvPr/>
        </p:nvSpPr>
        <p:spPr>
          <a:xfrm>
            <a:off x="1024128" y="1929384"/>
            <a:ext cx="5010912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50" lang="en-US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records encrypted at rest and in transit.</a:t>
            </a:r>
            <a:endParaRPr dirty="0" sz="1150" lang="en-US"/>
          </a:p>
        </p:txBody>
      </p:sp>
      <p:pic>
        <p:nvPicPr>
          <p:cNvPr id="2097190" name="Image 1" descr="/home/claude/cloudppt/assets/face_id_0086A8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40080" y="2761488"/>
            <a:ext cx="256032" cy="256032"/>
          </a:xfrm>
          <a:prstGeom prst="rect"/>
        </p:spPr>
      </p:pic>
      <p:sp>
        <p:nvSpPr>
          <p:cNvPr id="1048711" name="Text 5"/>
          <p:cNvSpPr/>
          <p:nvPr/>
        </p:nvSpPr>
        <p:spPr>
          <a:xfrm>
            <a:off x="1024128" y="2688336"/>
            <a:ext cx="5010912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500" lang="en-US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Verification</a:t>
            </a:r>
            <a:endParaRPr dirty="0" sz="1500" lang="en-US"/>
          </a:p>
        </p:txBody>
      </p:sp>
      <p:sp>
        <p:nvSpPr>
          <p:cNvPr id="1048712" name="Text 6"/>
          <p:cNvSpPr/>
          <p:nvPr/>
        </p:nvSpPr>
        <p:spPr>
          <a:xfrm>
            <a:off x="1024128" y="2980944"/>
            <a:ext cx="5010912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50" lang="en-US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registered, matched faces are accepted.</a:t>
            </a:r>
            <a:endParaRPr dirty="0" sz="1150" lang="en-US"/>
          </a:p>
        </p:txBody>
      </p:sp>
      <p:pic>
        <p:nvPicPr>
          <p:cNvPr id="2097191" name="Image 2" descr="/home/claude/cloudppt/assets/shield_check_0086A8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640080" y="3813048"/>
            <a:ext cx="256032" cy="256032"/>
          </a:xfrm>
          <a:prstGeom prst="rect"/>
        </p:spPr>
      </p:pic>
      <p:sp>
        <p:nvSpPr>
          <p:cNvPr id="1048713" name="Text 7"/>
          <p:cNvSpPr/>
          <p:nvPr/>
        </p:nvSpPr>
        <p:spPr>
          <a:xfrm>
            <a:off x="1024128" y="3739896"/>
            <a:ext cx="5010912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500" lang="en-US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Anti-Spoof Detection</a:t>
            </a:r>
            <a:endParaRPr dirty="0" sz="1500" lang="en-US"/>
          </a:p>
        </p:txBody>
      </p:sp>
      <p:sp>
        <p:nvSpPr>
          <p:cNvPr id="1048714" name="Text 8"/>
          <p:cNvSpPr/>
          <p:nvPr/>
        </p:nvSpPr>
        <p:spPr>
          <a:xfrm>
            <a:off x="1024128" y="4032504"/>
            <a:ext cx="5010912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50" lang="en-US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photos, videos &amp; mask-based spoofing.</a:t>
            </a:r>
            <a:endParaRPr dirty="0" sz="1150" lang="en-US"/>
          </a:p>
        </p:txBody>
      </p:sp>
      <p:pic>
        <p:nvPicPr>
          <p:cNvPr id="2097192" name="Image 3" descr="/home/claude/cloudppt/assets/key_0086A8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6400800" y="1709928"/>
            <a:ext cx="256032" cy="256032"/>
          </a:xfrm>
          <a:prstGeom prst="rect"/>
        </p:spPr>
      </p:pic>
      <p:sp>
        <p:nvSpPr>
          <p:cNvPr id="1048715" name="Text 9"/>
          <p:cNvSpPr/>
          <p:nvPr/>
        </p:nvSpPr>
        <p:spPr>
          <a:xfrm>
            <a:off x="6784848" y="1636776"/>
            <a:ext cx="5010912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500" lang="en-US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Authentication</a:t>
            </a:r>
            <a:endParaRPr dirty="0" sz="1500" lang="en-US"/>
          </a:p>
        </p:txBody>
      </p:sp>
      <p:sp>
        <p:nvSpPr>
          <p:cNvPr id="1048716" name="Text 10"/>
          <p:cNvSpPr/>
          <p:nvPr/>
        </p:nvSpPr>
        <p:spPr>
          <a:xfrm>
            <a:off x="6784848" y="1929384"/>
            <a:ext cx="5010912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50" lang="en-US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for faculty &amp; admins.</a:t>
            </a:r>
            <a:endParaRPr dirty="0" sz="1150" lang="en-US"/>
          </a:p>
        </p:txBody>
      </p:sp>
      <p:pic>
        <p:nvPicPr>
          <p:cNvPr id="2097193" name="Image 4" descr="/home/claude/cloudppt/assets/eye_0086A8.png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6400800" y="2761488"/>
            <a:ext cx="256032" cy="256032"/>
          </a:xfrm>
          <a:prstGeom prst="rect"/>
        </p:spPr>
      </p:pic>
      <p:sp>
        <p:nvSpPr>
          <p:cNvPr id="1048717" name="Text 11"/>
          <p:cNvSpPr/>
          <p:nvPr/>
        </p:nvSpPr>
        <p:spPr>
          <a:xfrm>
            <a:off x="6784848" y="2688336"/>
            <a:ext cx="5010912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500" lang="en-US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</a:t>
            </a:r>
            <a:endParaRPr dirty="0" sz="1500" lang="en-US"/>
          </a:p>
        </p:txBody>
      </p:sp>
      <p:sp>
        <p:nvSpPr>
          <p:cNvPr id="1048718" name="Text 12"/>
          <p:cNvSpPr/>
          <p:nvPr/>
        </p:nvSpPr>
        <p:spPr>
          <a:xfrm>
            <a:off x="6784848" y="2980944"/>
            <a:ext cx="5010912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50" lang="en-US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activity flagged instantly.</a:t>
            </a:r>
            <a:endParaRPr dirty="0" sz="1150" lang="en-US"/>
          </a:p>
        </p:txBody>
      </p:sp>
      <p:pic>
        <p:nvPicPr>
          <p:cNvPr id="2097194" name="Image 5" descr="/home/claude/cloudppt/assets/backup_0086A8.png"/>
          <p:cNvPicPr>
            <a:picLocks noChangeAspect="1"/>
          </p:cNvPicPr>
          <p:nvPr/>
        </p:nvPicPr>
        <p:blipFill>
          <a:blip xmlns:r="http://schemas.openxmlformats.org/officeDocument/2006/relationships" r:embed="rId6"/>
          <a:stretch>
            <a:fillRect/>
          </a:stretch>
        </p:blipFill>
        <p:spPr>
          <a:xfrm>
            <a:off x="6400800" y="3813048"/>
            <a:ext cx="256032" cy="256032"/>
          </a:xfrm>
          <a:prstGeom prst="rect"/>
        </p:spPr>
      </p:pic>
      <p:sp>
        <p:nvSpPr>
          <p:cNvPr id="1048719" name="Text 13"/>
          <p:cNvSpPr/>
          <p:nvPr/>
        </p:nvSpPr>
        <p:spPr>
          <a:xfrm>
            <a:off x="6784848" y="3739896"/>
            <a:ext cx="5010912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500" lang="en-US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Systems</a:t>
            </a:r>
            <a:endParaRPr dirty="0" sz="1500" lang="en-US"/>
          </a:p>
        </p:txBody>
      </p:sp>
      <p:sp>
        <p:nvSpPr>
          <p:cNvPr id="1048720" name="Text 14"/>
          <p:cNvSpPr/>
          <p:nvPr/>
        </p:nvSpPr>
        <p:spPr>
          <a:xfrm>
            <a:off x="6784848" y="4032504"/>
            <a:ext cx="5010912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50" lang="en-US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redundant backups prevent data loss.</a:t>
            </a:r>
            <a:endParaRPr dirty="0" sz="1150" lang="en-US"/>
          </a:p>
        </p:txBody>
      </p:sp>
      <p:sp>
        <p:nvSpPr>
          <p:cNvPr id="1048721" name="Shape 15"/>
          <p:cNvSpPr/>
          <p:nvPr/>
        </p:nvSpPr>
        <p:spPr>
          <a:xfrm>
            <a:off x="640080" y="6355080"/>
            <a:ext cx="10911535" cy="0"/>
          </a:xfrm>
          <a:prstGeom prst="line"/>
          <a:noFill/>
          <a:ln w="12700">
            <a:solidFill>
              <a:srgbClr val="DCE1F2"/>
            </a:solidFill>
            <a:prstDash val="solid"/>
          </a:ln>
        </p:spPr>
        <p:txBody>
          <a:bodyPr/>
          <a:p>
            <a:endParaRPr lang="en-IN"/>
          </a:p>
        </p:txBody>
      </p:sp>
      <p:sp>
        <p:nvSpPr>
          <p:cNvPr id="1048722" name="Text 16"/>
          <p:cNvSpPr/>
          <p:nvPr/>
        </p:nvSpPr>
        <p:spPr>
          <a:xfrm>
            <a:off x="640080" y="6473952"/>
            <a:ext cx="548640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00" kern="0" lang="en-US" spc="100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FEATURES</a:t>
            </a:r>
            <a:endParaRPr dirty="0" sz="1000" lang="en-US"/>
          </a:p>
        </p:txBody>
      </p:sp>
      <p:sp>
        <p:nvSpPr>
          <p:cNvPr id="1048723" name="Text 17"/>
          <p:cNvSpPr/>
          <p:nvPr/>
        </p:nvSpPr>
        <p:spPr>
          <a:xfrm>
            <a:off x="10728655" y="6473952"/>
            <a:ext cx="100584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dirty="0" sz="1000" lang="en-US"/>
          </a:p>
        </p:txBody>
      </p:sp>
      <p:sp>
        <p:nvSpPr>
          <p:cNvPr id="1048724" name="Text 18"/>
          <p:cNvSpPr/>
          <p:nvPr/>
        </p:nvSpPr>
        <p:spPr>
          <a:xfrm>
            <a:off x="4267048" y="6473952"/>
            <a:ext cx="3657600" cy="2743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900" kern="0" lang="en-US" spc="200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ATTENDANCE • AI</a:t>
            </a:r>
            <a:endParaRPr dirty="0" sz="900"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Shape 0"/>
          <p:cNvSpPr/>
          <p:nvPr/>
        </p:nvSpPr>
        <p:spPr>
          <a:xfrm>
            <a:off x="640080" y="457200"/>
            <a:ext cx="1060704" cy="310896"/>
          </a:xfrm>
          <a:prstGeom prst="roundRect">
            <a:avLst>
              <a:gd name="adj" fmla="val 50000"/>
            </a:avLst>
          </a:prstGeom>
          <a:solidFill>
            <a:srgbClr val="F3F5FC"/>
          </a:solidFill>
          <a:ln w="9525">
            <a:solidFill>
              <a:srgbClr val="0086A8"/>
            </a:solidFill>
            <a:prstDash val="solid"/>
          </a:ln>
        </p:spPr>
        <p:txBody>
          <a:bodyPr/>
          <a:p>
            <a:endParaRPr lang="en-IN"/>
          </a:p>
        </p:txBody>
      </p:sp>
      <p:sp>
        <p:nvSpPr>
          <p:cNvPr id="1048729" name="Text 1"/>
          <p:cNvSpPr/>
          <p:nvPr/>
        </p:nvSpPr>
        <p:spPr>
          <a:xfrm>
            <a:off x="640080" y="448056"/>
            <a:ext cx="1060704" cy="310896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100" kern="0" lang="en-US" spc="200">
                <a:solidFill>
                  <a:srgbClr val="00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dirty="0" sz="1100" lang="en-US"/>
          </a:p>
        </p:txBody>
      </p:sp>
      <p:sp>
        <p:nvSpPr>
          <p:cNvPr id="1048730" name="Text 2"/>
          <p:cNvSpPr/>
          <p:nvPr/>
        </p:nvSpPr>
        <p:spPr>
          <a:xfrm>
            <a:off x="640080" y="868680"/>
            <a:ext cx="914400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200" lang="en-US">
                <a:solidFill>
                  <a:srgbClr val="0A0E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Key Advantages</a:t>
            </a:r>
            <a:endParaRPr dirty="0" sz="3200" lang="en-US"/>
          </a:p>
        </p:txBody>
      </p:sp>
      <p:sp>
        <p:nvSpPr>
          <p:cNvPr id="1048731" name="Text 3"/>
          <p:cNvSpPr/>
          <p:nvPr/>
        </p:nvSpPr>
        <p:spPr>
          <a:xfrm>
            <a:off x="640080" y="1600200"/>
            <a:ext cx="1088136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200" lang="en-US">
                <a:solidFill>
                  <a:srgbClr val="0086A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99% Recognition Accuracy</a:t>
            </a:r>
            <a:endParaRPr dirty="0" sz="2200" lang="en-US"/>
          </a:p>
        </p:txBody>
      </p:sp>
      <p:pic>
        <p:nvPicPr>
          <p:cNvPr id="2097195" name="Image 0" descr="/home/claude/cloudppt/assets/clock_0086A8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640080" y="2258568"/>
            <a:ext cx="256032" cy="256032"/>
          </a:xfrm>
          <a:prstGeom prst="rect"/>
        </p:spPr>
      </p:pic>
      <p:sp>
        <p:nvSpPr>
          <p:cNvPr id="1048732" name="Text 4"/>
          <p:cNvSpPr/>
          <p:nvPr/>
        </p:nvSpPr>
        <p:spPr>
          <a:xfrm>
            <a:off x="1024128" y="2185416"/>
            <a:ext cx="5010912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500" lang="en-US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Time</a:t>
            </a:r>
            <a:endParaRPr dirty="0" sz="1500" lang="en-US"/>
          </a:p>
        </p:txBody>
      </p:sp>
      <p:sp>
        <p:nvSpPr>
          <p:cNvPr id="1048733" name="Text 5"/>
          <p:cNvSpPr/>
          <p:nvPr/>
        </p:nvSpPr>
        <p:spPr>
          <a:xfrm>
            <a:off x="1024128" y="2478024"/>
            <a:ext cx="5010912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50" lang="en-US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attendance to seconds</a:t>
            </a:r>
            <a:endParaRPr dirty="0" sz="1150" lang="en-US"/>
          </a:p>
        </p:txBody>
      </p:sp>
      <p:pic>
        <p:nvPicPr>
          <p:cNvPr id="2097196" name="Image 1" descr="/home/claude/cloudppt/assets/leaf_0086A8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40080" y="3035808"/>
            <a:ext cx="256032" cy="256032"/>
          </a:xfrm>
          <a:prstGeom prst="rect"/>
        </p:spPr>
      </p:pic>
      <p:sp>
        <p:nvSpPr>
          <p:cNvPr id="1048734" name="Text 6"/>
          <p:cNvSpPr/>
          <p:nvPr/>
        </p:nvSpPr>
        <p:spPr>
          <a:xfrm>
            <a:off x="1024128" y="2962656"/>
            <a:ext cx="5010912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500" lang="en-US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Paperless System</a:t>
            </a:r>
            <a:endParaRPr dirty="0" sz="1500" lang="en-US"/>
          </a:p>
        </p:txBody>
      </p:sp>
      <p:sp>
        <p:nvSpPr>
          <p:cNvPr id="1048735" name="Text 7"/>
          <p:cNvSpPr/>
          <p:nvPr/>
        </p:nvSpPr>
        <p:spPr>
          <a:xfrm>
            <a:off x="1024128" y="3255264"/>
            <a:ext cx="5010912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50" lang="en-US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paperwork</a:t>
            </a:r>
            <a:endParaRPr dirty="0" sz="1150" lang="en-US"/>
          </a:p>
        </p:txBody>
      </p:sp>
      <p:pic>
        <p:nvPicPr>
          <p:cNvPr id="2097197" name="Image 2" descr="/home/claude/cloudppt/assets/lock_0086A8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640080" y="3813048"/>
            <a:ext cx="256032" cy="256032"/>
          </a:xfrm>
          <a:prstGeom prst="rect"/>
        </p:spPr>
      </p:pic>
      <p:sp>
        <p:nvSpPr>
          <p:cNvPr id="1048736" name="Text 8"/>
          <p:cNvSpPr/>
          <p:nvPr/>
        </p:nvSpPr>
        <p:spPr>
          <a:xfrm>
            <a:off x="1024128" y="3739896"/>
            <a:ext cx="5010912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500" lang="en-US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Attendance</a:t>
            </a:r>
            <a:endParaRPr dirty="0" sz="1500" lang="en-US"/>
          </a:p>
        </p:txBody>
      </p:sp>
      <p:sp>
        <p:nvSpPr>
          <p:cNvPr id="1048737" name="Text 9"/>
          <p:cNvSpPr/>
          <p:nvPr/>
        </p:nvSpPr>
        <p:spPr>
          <a:xfrm>
            <a:off x="1024128" y="4032504"/>
            <a:ext cx="5010912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50" lang="en-US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spoof-resistant marking</a:t>
            </a:r>
            <a:endParaRPr dirty="0" sz="1150" lang="en-US"/>
          </a:p>
        </p:txBody>
      </p:sp>
      <p:pic>
        <p:nvPicPr>
          <p:cNvPr id="2097198" name="Image 3" descr="/home/claude/cloudppt/assets/chart_0086A8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640080" y="4590288"/>
            <a:ext cx="256032" cy="256032"/>
          </a:xfrm>
          <a:prstGeom prst="rect"/>
        </p:spPr>
      </p:pic>
      <p:sp>
        <p:nvSpPr>
          <p:cNvPr id="1048738" name="Text 10"/>
          <p:cNvSpPr/>
          <p:nvPr/>
        </p:nvSpPr>
        <p:spPr>
          <a:xfrm>
            <a:off x="1024128" y="4517136"/>
            <a:ext cx="5010912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500" lang="en-US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Reports</a:t>
            </a:r>
            <a:endParaRPr dirty="0" sz="1500" lang="en-US"/>
          </a:p>
        </p:txBody>
      </p:sp>
      <p:sp>
        <p:nvSpPr>
          <p:cNvPr id="1048739" name="Text 11"/>
          <p:cNvSpPr/>
          <p:nvPr/>
        </p:nvSpPr>
        <p:spPr>
          <a:xfrm>
            <a:off x="1024128" y="4809744"/>
            <a:ext cx="5010912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50" lang="en-US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analytics</a:t>
            </a:r>
            <a:endParaRPr dirty="0" sz="1150" lang="en-US"/>
          </a:p>
        </p:txBody>
      </p:sp>
      <p:pic>
        <p:nvPicPr>
          <p:cNvPr id="2097199" name="Image 4" descr="/home/claude/cloudppt/assets/cloud_download_0086A8.png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6400800" y="2258568"/>
            <a:ext cx="256032" cy="256032"/>
          </a:xfrm>
          <a:prstGeom prst="rect"/>
        </p:spPr>
      </p:pic>
      <p:sp>
        <p:nvSpPr>
          <p:cNvPr id="1048740" name="Text 12"/>
          <p:cNvSpPr/>
          <p:nvPr/>
        </p:nvSpPr>
        <p:spPr>
          <a:xfrm>
            <a:off x="6784848" y="2185416"/>
            <a:ext cx="5010912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500" lang="en-US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Backup</a:t>
            </a:r>
            <a:endParaRPr dirty="0" sz="1500" lang="en-US"/>
          </a:p>
        </p:txBody>
      </p:sp>
      <p:sp>
        <p:nvSpPr>
          <p:cNvPr id="1048741" name="Text 13"/>
          <p:cNvSpPr/>
          <p:nvPr/>
        </p:nvSpPr>
        <p:spPr>
          <a:xfrm>
            <a:off x="6784848" y="2478024"/>
            <a:ext cx="5010912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50" lang="en-US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never lost</a:t>
            </a:r>
            <a:endParaRPr dirty="0" sz="1150" lang="en-US"/>
          </a:p>
        </p:txBody>
      </p:sp>
      <p:pic>
        <p:nvPicPr>
          <p:cNvPr id="2097200" name="Image 5" descr="/home/claude/cloudppt/assets/settings_0086A8.png"/>
          <p:cNvPicPr>
            <a:picLocks noChangeAspect="1"/>
          </p:cNvPicPr>
          <p:nvPr/>
        </p:nvPicPr>
        <p:blipFill>
          <a:blip xmlns:r="http://schemas.openxmlformats.org/officeDocument/2006/relationships" r:embed="rId6"/>
          <a:stretch>
            <a:fillRect/>
          </a:stretch>
        </p:blipFill>
        <p:spPr>
          <a:xfrm>
            <a:off x="6400800" y="3035808"/>
            <a:ext cx="256032" cy="256032"/>
          </a:xfrm>
          <a:prstGeom prst="rect"/>
        </p:spPr>
      </p:pic>
      <p:sp>
        <p:nvSpPr>
          <p:cNvPr id="1048742" name="Text 14"/>
          <p:cNvSpPr/>
          <p:nvPr/>
        </p:nvSpPr>
        <p:spPr>
          <a:xfrm>
            <a:off x="6784848" y="2962656"/>
            <a:ext cx="5010912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500" lang="en-US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Management</a:t>
            </a:r>
            <a:endParaRPr dirty="0" sz="1500" lang="en-US"/>
          </a:p>
        </p:txBody>
      </p:sp>
      <p:sp>
        <p:nvSpPr>
          <p:cNvPr id="1048743" name="Text 15"/>
          <p:cNvSpPr/>
          <p:nvPr/>
        </p:nvSpPr>
        <p:spPr>
          <a:xfrm>
            <a:off x="6784848" y="3255264"/>
            <a:ext cx="5010912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50" lang="en-US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dashboard</a:t>
            </a:r>
            <a:endParaRPr dirty="0" sz="1150" lang="en-US"/>
          </a:p>
        </p:txBody>
      </p:sp>
      <p:pic>
        <p:nvPicPr>
          <p:cNvPr id="2097201" name="Image 6" descr="/home/claude/cloudppt/assets/expand_0086A8.png"/>
          <p:cNvPicPr>
            <a:picLocks noChangeAspect="1"/>
          </p:cNvPicPr>
          <p:nvPr/>
        </p:nvPicPr>
        <p:blipFill>
          <a:blip xmlns:r="http://schemas.openxmlformats.org/officeDocument/2006/relationships" r:embed="rId7"/>
          <a:stretch>
            <a:fillRect/>
          </a:stretch>
        </p:blipFill>
        <p:spPr>
          <a:xfrm>
            <a:off x="6400800" y="3813048"/>
            <a:ext cx="256032" cy="256032"/>
          </a:xfrm>
          <a:prstGeom prst="rect"/>
        </p:spPr>
      </p:pic>
      <p:sp>
        <p:nvSpPr>
          <p:cNvPr id="1048744" name="Text 16"/>
          <p:cNvSpPr/>
          <p:nvPr/>
        </p:nvSpPr>
        <p:spPr>
          <a:xfrm>
            <a:off x="6784848" y="3739896"/>
            <a:ext cx="5010912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500" lang="en-US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Architecture</a:t>
            </a:r>
            <a:endParaRPr dirty="0" sz="1500" lang="en-US"/>
          </a:p>
        </p:txBody>
      </p:sp>
      <p:sp>
        <p:nvSpPr>
          <p:cNvPr id="1048745" name="Text 17"/>
          <p:cNvSpPr/>
          <p:nvPr/>
        </p:nvSpPr>
        <p:spPr>
          <a:xfrm>
            <a:off x="6784848" y="4032504"/>
            <a:ext cx="5010912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50" lang="en-US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room to full campus</a:t>
            </a:r>
            <a:endParaRPr dirty="0" sz="1150" lang="en-US"/>
          </a:p>
        </p:txBody>
      </p:sp>
      <p:sp>
        <p:nvSpPr>
          <p:cNvPr id="1048746" name="Shape 18"/>
          <p:cNvSpPr/>
          <p:nvPr/>
        </p:nvSpPr>
        <p:spPr>
          <a:xfrm>
            <a:off x="640080" y="6355080"/>
            <a:ext cx="10911535" cy="0"/>
          </a:xfrm>
          <a:prstGeom prst="line"/>
          <a:noFill/>
          <a:ln w="12700">
            <a:solidFill>
              <a:srgbClr val="DCE1F2"/>
            </a:solidFill>
            <a:prstDash val="solid"/>
          </a:ln>
        </p:spPr>
        <p:txBody>
          <a:bodyPr/>
          <a:p>
            <a:endParaRPr lang="en-IN"/>
          </a:p>
        </p:txBody>
      </p:sp>
      <p:sp>
        <p:nvSpPr>
          <p:cNvPr id="1048747" name="Text 19"/>
          <p:cNvSpPr/>
          <p:nvPr/>
        </p:nvSpPr>
        <p:spPr>
          <a:xfrm>
            <a:off x="640080" y="6473952"/>
            <a:ext cx="548640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00" kern="0" lang="en-US" spc="100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dirty="0" sz="1000" lang="en-US"/>
          </a:p>
        </p:txBody>
      </p:sp>
      <p:sp>
        <p:nvSpPr>
          <p:cNvPr id="1048748" name="Text 20"/>
          <p:cNvSpPr/>
          <p:nvPr/>
        </p:nvSpPr>
        <p:spPr>
          <a:xfrm>
            <a:off x="10728655" y="6473952"/>
            <a:ext cx="100584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dirty="0" sz="1000" lang="en-US"/>
          </a:p>
        </p:txBody>
      </p:sp>
      <p:sp>
        <p:nvSpPr>
          <p:cNvPr id="1048749" name="Text 21"/>
          <p:cNvSpPr/>
          <p:nvPr/>
        </p:nvSpPr>
        <p:spPr>
          <a:xfrm>
            <a:off x="4267048" y="6473952"/>
            <a:ext cx="3657600" cy="2743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900" kern="0" lang="en-US" spc="200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ATTENDANCE • AI</a:t>
            </a:r>
            <a:endParaRPr dirty="0" sz="900"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3" name="Shape 0"/>
          <p:cNvSpPr/>
          <p:nvPr/>
        </p:nvSpPr>
        <p:spPr>
          <a:xfrm>
            <a:off x="640080" y="457200"/>
            <a:ext cx="1161288" cy="310896"/>
          </a:xfrm>
          <a:prstGeom prst="roundRect">
            <a:avLst>
              <a:gd name="adj" fmla="val 50000"/>
            </a:avLst>
          </a:prstGeom>
          <a:solidFill>
            <a:srgbClr val="F3F5FC"/>
          </a:solidFill>
          <a:ln w="9525">
            <a:solidFill>
              <a:srgbClr val="0086A8"/>
            </a:solidFill>
            <a:prstDash val="solid"/>
          </a:ln>
        </p:spPr>
        <p:txBody>
          <a:bodyPr/>
          <a:p>
            <a:endParaRPr lang="en-IN"/>
          </a:p>
        </p:txBody>
      </p:sp>
      <p:sp>
        <p:nvSpPr>
          <p:cNvPr id="1048754" name="Text 1"/>
          <p:cNvSpPr/>
          <p:nvPr/>
        </p:nvSpPr>
        <p:spPr>
          <a:xfrm>
            <a:off x="640080" y="448056"/>
            <a:ext cx="1161288" cy="310896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100" kern="0" lang="en-US" spc="200">
                <a:solidFill>
                  <a:srgbClr val="00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dirty="0" sz="1100" lang="en-US"/>
          </a:p>
        </p:txBody>
      </p:sp>
      <p:sp>
        <p:nvSpPr>
          <p:cNvPr id="1048755" name="Text 2"/>
          <p:cNvSpPr/>
          <p:nvPr/>
        </p:nvSpPr>
        <p:spPr>
          <a:xfrm>
            <a:off x="640080" y="868680"/>
            <a:ext cx="914400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200" lang="en-US">
                <a:solidFill>
                  <a:srgbClr val="0A0E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Future Enhancements</a:t>
            </a:r>
            <a:endParaRPr dirty="0" sz="3200" lang="en-US"/>
          </a:p>
        </p:txBody>
      </p:sp>
      <p:pic>
        <p:nvPicPr>
          <p:cNvPr id="2097202" name="Image 0" descr="/home/claude/cloudppt/assets/smile_6C3CE9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640080" y="1709928"/>
            <a:ext cx="256032" cy="256032"/>
          </a:xfrm>
          <a:prstGeom prst="rect"/>
        </p:spPr>
      </p:pic>
      <p:sp>
        <p:nvSpPr>
          <p:cNvPr id="1048756" name="Text 3"/>
          <p:cNvSpPr/>
          <p:nvPr/>
        </p:nvSpPr>
        <p:spPr>
          <a:xfrm>
            <a:off x="1024128" y="1636776"/>
            <a:ext cx="5010912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500" lang="en-US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Emotion Detection</a:t>
            </a:r>
            <a:endParaRPr dirty="0" sz="1500" lang="en-US"/>
          </a:p>
        </p:txBody>
      </p:sp>
      <p:sp>
        <p:nvSpPr>
          <p:cNvPr id="1048757" name="Text 4"/>
          <p:cNvSpPr/>
          <p:nvPr/>
        </p:nvSpPr>
        <p:spPr>
          <a:xfrm>
            <a:off x="1024128" y="1929384"/>
            <a:ext cx="5010912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50" lang="en-US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 classroom engagement</a:t>
            </a:r>
            <a:endParaRPr dirty="0" sz="1150" lang="en-US"/>
          </a:p>
        </p:txBody>
      </p:sp>
      <p:pic>
        <p:nvPicPr>
          <p:cNvPr id="2097203" name="Image 1" descr="/home/claude/cloudppt/assets/users_6C3CE9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40080" y="2606040"/>
            <a:ext cx="256032" cy="256032"/>
          </a:xfrm>
          <a:prstGeom prst="rect"/>
        </p:spPr>
      </p:pic>
      <p:sp>
        <p:nvSpPr>
          <p:cNvPr id="1048758" name="Text 5"/>
          <p:cNvSpPr/>
          <p:nvPr/>
        </p:nvSpPr>
        <p:spPr>
          <a:xfrm>
            <a:off x="1024128" y="2532888"/>
            <a:ext cx="5010912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500" lang="en-US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Multi-Face Recognition</a:t>
            </a:r>
            <a:endParaRPr dirty="0" sz="1500" lang="en-US"/>
          </a:p>
        </p:txBody>
      </p:sp>
      <p:sp>
        <p:nvSpPr>
          <p:cNvPr id="1048759" name="Text 6"/>
          <p:cNvSpPr/>
          <p:nvPr/>
        </p:nvSpPr>
        <p:spPr>
          <a:xfrm>
            <a:off x="1024128" y="2825496"/>
            <a:ext cx="5010912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50" lang="en-US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 group in one frame</a:t>
            </a:r>
            <a:endParaRPr dirty="0" sz="1150" lang="en-US"/>
          </a:p>
        </p:txBody>
      </p:sp>
      <p:pic>
        <p:nvPicPr>
          <p:cNvPr id="2097204" name="Image 2" descr="/home/claude/cloudppt/assets/mobile_6C3CE9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640080" y="3502152"/>
            <a:ext cx="256032" cy="256032"/>
          </a:xfrm>
          <a:prstGeom prst="rect"/>
        </p:spPr>
      </p:pic>
      <p:sp>
        <p:nvSpPr>
          <p:cNvPr id="1048760" name="Text 7"/>
          <p:cNvSpPr/>
          <p:nvPr/>
        </p:nvSpPr>
        <p:spPr>
          <a:xfrm>
            <a:off x="1024128" y="3429000"/>
            <a:ext cx="5010912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500" lang="en-US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Integration</a:t>
            </a:r>
            <a:endParaRPr dirty="0" sz="1500" lang="en-US"/>
          </a:p>
        </p:txBody>
      </p:sp>
      <p:sp>
        <p:nvSpPr>
          <p:cNvPr id="1048761" name="Text 8"/>
          <p:cNvSpPr/>
          <p:nvPr/>
        </p:nvSpPr>
        <p:spPr>
          <a:xfrm>
            <a:off x="1024128" y="3721608"/>
            <a:ext cx="5010912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50" lang="en-US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&amp; alerts on the go</a:t>
            </a:r>
            <a:endParaRPr dirty="0" sz="1150" lang="en-US"/>
          </a:p>
        </p:txBody>
      </p:sp>
      <p:pic>
        <p:nvPicPr>
          <p:cNvPr id="2097205" name="Image 3" descr="/home/claude/cloudppt/assets/microphone_6C3CE9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640080" y="4398264"/>
            <a:ext cx="256032" cy="256032"/>
          </a:xfrm>
          <a:prstGeom prst="rect"/>
        </p:spPr>
      </p:pic>
      <p:sp>
        <p:nvSpPr>
          <p:cNvPr id="1048762" name="Text 9"/>
          <p:cNvSpPr/>
          <p:nvPr/>
        </p:nvSpPr>
        <p:spPr>
          <a:xfrm>
            <a:off x="1024128" y="4325112"/>
            <a:ext cx="5010912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500" lang="en-US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Authentication</a:t>
            </a:r>
            <a:endParaRPr dirty="0" sz="1500" lang="en-US"/>
          </a:p>
        </p:txBody>
      </p:sp>
      <p:sp>
        <p:nvSpPr>
          <p:cNvPr id="1048763" name="Text 10"/>
          <p:cNvSpPr/>
          <p:nvPr/>
        </p:nvSpPr>
        <p:spPr>
          <a:xfrm>
            <a:off x="1024128" y="4617720"/>
            <a:ext cx="5010912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50" lang="en-US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verification layer</a:t>
            </a:r>
            <a:endParaRPr dirty="0" sz="1150" lang="en-US"/>
          </a:p>
        </p:txBody>
      </p:sp>
      <p:pic>
        <p:nvPicPr>
          <p:cNvPr id="2097206" name="Image 4" descr="/home/claude/cloudppt/assets/bell_6C3CE9.png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6400800" y="1709928"/>
            <a:ext cx="256032" cy="256032"/>
          </a:xfrm>
          <a:prstGeom prst="rect"/>
        </p:spPr>
      </p:pic>
      <p:sp>
        <p:nvSpPr>
          <p:cNvPr id="1048764" name="Text 11"/>
          <p:cNvSpPr/>
          <p:nvPr/>
        </p:nvSpPr>
        <p:spPr>
          <a:xfrm>
            <a:off x="6784848" y="1636776"/>
            <a:ext cx="5010912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500" lang="en-US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Notifications</a:t>
            </a:r>
            <a:endParaRPr dirty="0" sz="1500" lang="en-US"/>
          </a:p>
        </p:txBody>
      </p:sp>
      <p:sp>
        <p:nvSpPr>
          <p:cNvPr id="1048765" name="Text 12"/>
          <p:cNvSpPr/>
          <p:nvPr/>
        </p:nvSpPr>
        <p:spPr>
          <a:xfrm>
            <a:off x="6784848" y="1929384"/>
            <a:ext cx="5010912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50" lang="en-US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absentee alerts</a:t>
            </a:r>
            <a:endParaRPr dirty="0" sz="1150" lang="en-US"/>
          </a:p>
        </p:txBody>
      </p:sp>
      <p:pic>
        <p:nvPicPr>
          <p:cNvPr id="2097207" name="Image 5" descr="/home/claude/cloudppt/assets/location_6C3CE9.png"/>
          <p:cNvPicPr>
            <a:picLocks noChangeAspect="1"/>
          </p:cNvPicPr>
          <p:nvPr/>
        </p:nvPicPr>
        <p:blipFill>
          <a:blip xmlns:r="http://schemas.openxmlformats.org/officeDocument/2006/relationships" r:embed="rId6"/>
          <a:stretch>
            <a:fillRect/>
          </a:stretch>
        </p:blipFill>
        <p:spPr>
          <a:xfrm>
            <a:off x="6400800" y="2606040"/>
            <a:ext cx="256032" cy="256032"/>
          </a:xfrm>
          <a:prstGeom prst="rect"/>
        </p:spPr>
      </p:pic>
      <p:sp>
        <p:nvSpPr>
          <p:cNvPr id="1048766" name="Text 13"/>
          <p:cNvSpPr/>
          <p:nvPr/>
        </p:nvSpPr>
        <p:spPr>
          <a:xfrm>
            <a:off x="6784848" y="2532888"/>
            <a:ext cx="5010912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500" lang="en-US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GPS-Based Verification</a:t>
            </a:r>
            <a:endParaRPr dirty="0" sz="1500" lang="en-US"/>
          </a:p>
        </p:txBody>
      </p:sp>
      <p:sp>
        <p:nvSpPr>
          <p:cNvPr id="1048767" name="Text 14"/>
          <p:cNvSpPr/>
          <p:nvPr/>
        </p:nvSpPr>
        <p:spPr>
          <a:xfrm>
            <a:off x="6784848" y="2825496"/>
            <a:ext cx="5010912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50" lang="en-US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location-aware attendance</a:t>
            </a:r>
            <a:endParaRPr dirty="0" sz="1150" lang="en-US"/>
          </a:p>
        </p:txBody>
      </p:sp>
      <p:pic>
        <p:nvPicPr>
          <p:cNvPr id="2097208" name="Image 6" descr="/home/claude/cloudppt/assets/link_6C3CE9.png"/>
          <p:cNvPicPr>
            <a:picLocks noChangeAspect="1"/>
          </p:cNvPicPr>
          <p:nvPr/>
        </p:nvPicPr>
        <p:blipFill>
          <a:blip xmlns:r="http://schemas.openxmlformats.org/officeDocument/2006/relationships" r:embed="rId7"/>
          <a:stretch>
            <a:fillRect/>
          </a:stretch>
        </p:blipFill>
        <p:spPr>
          <a:xfrm>
            <a:off x="6400800" y="3502152"/>
            <a:ext cx="256032" cy="256032"/>
          </a:xfrm>
          <a:prstGeom prst="rect"/>
        </p:spPr>
      </p:pic>
      <p:sp>
        <p:nvSpPr>
          <p:cNvPr id="1048768" name="Text 15"/>
          <p:cNvSpPr/>
          <p:nvPr/>
        </p:nvSpPr>
        <p:spPr>
          <a:xfrm>
            <a:off x="6784848" y="3429000"/>
            <a:ext cx="5010912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500" lang="en-US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Security</a:t>
            </a:r>
            <a:endParaRPr dirty="0" sz="1500" lang="en-US"/>
          </a:p>
        </p:txBody>
      </p:sp>
      <p:sp>
        <p:nvSpPr>
          <p:cNvPr id="1048769" name="Text 16"/>
          <p:cNvSpPr/>
          <p:nvPr/>
        </p:nvSpPr>
        <p:spPr>
          <a:xfrm>
            <a:off x="6784848" y="3721608"/>
            <a:ext cx="5010912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50" lang="en-US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tamper-proof attendance ledger</a:t>
            </a:r>
            <a:endParaRPr dirty="0" sz="1150" lang="en-US"/>
          </a:p>
        </p:txBody>
      </p:sp>
      <p:sp>
        <p:nvSpPr>
          <p:cNvPr id="1048770" name="Shape 17"/>
          <p:cNvSpPr/>
          <p:nvPr/>
        </p:nvSpPr>
        <p:spPr>
          <a:xfrm>
            <a:off x="640080" y="6355080"/>
            <a:ext cx="10911535" cy="0"/>
          </a:xfrm>
          <a:prstGeom prst="line"/>
          <a:noFill/>
          <a:ln w="12700">
            <a:solidFill>
              <a:srgbClr val="DCE1F2"/>
            </a:solidFill>
            <a:prstDash val="solid"/>
          </a:ln>
        </p:spPr>
        <p:txBody>
          <a:bodyPr/>
          <a:p>
            <a:endParaRPr lang="en-IN"/>
          </a:p>
        </p:txBody>
      </p:sp>
      <p:sp>
        <p:nvSpPr>
          <p:cNvPr id="1048771" name="Text 18"/>
          <p:cNvSpPr/>
          <p:nvPr/>
        </p:nvSpPr>
        <p:spPr>
          <a:xfrm>
            <a:off x="640080" y="6473952"/>
            <a:ext cx="548640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00" kern="0" lang="en-US" spc="100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dirty="0" sz="1000" lang="en-US"/>
          </a:p>
        </p:txBody>
      </p:sp>
      <p:sp>
        <p:nvSpPr>
          <p:cNvPr id="1048772" name="Text 19"/>
          <p:cNvSpPr/>
          <p:nvPr/>
        </p:nvSpPr>
        <p:spPr>
          <a:xfrm>
            <a:off x="10728655" y="6473952"/>
            <a:ext cx="100584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dirty="0" sz="1000" lang="en-US"/>
          </a:p>
        </p:txBody>
      </p:sp>
      <p:sp>
        <p:nvSpPr>
          <p:cNvPr id="1048773" name="Text 20"/>
          <p:cNvSpPr/>
          <p:nvPr/>
        </p:nvSpPr>
        <p:spPr>
          <a:xfrm>
            <a:off x="4267048" y="6473952"/>
            <a:ext cx="3657600" cy="2743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900" kern="0" lang="en-US" spc="200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ATTENDANCE • AI</a:t>
            </a:r>
            <a:endParaRPr dirty="0" sz="900"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13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712769" y="374703"/>
            <a:ext cx="10437126" cy="6108594"/>
          </a:xfrm>
          <a:prstGeom prst="rect"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7" name="Text 0"/>
          <p:cNvSpPr/>
          <p:nvPr/>
        </p:nvSpPr>
        <p:spPr>
          <a:xfrm>
            <a:off x="0" y="1463040"/>
            <a:ext cx="12191695" cy="8229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4400" kern="0" lang="en-US" spc="400">
                <a:solidFill>
                  <a:srgbClr val="0A0E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THANK YOU</a:t>
            </a:r>
            <a:endParaRPr dirty="0" sz="4400" lang="en-US"/>
          </a:p>
        </p:txBody>
      </p:sp>
      <p:sp>
        <p:nvSpPr>
          <p:cNvPr id="1048778" name="Text 1"/>
          <p:cNvSpPr/>
          <p:nvPr/>
        </p:nvSpPr>
        <p:spPr>
          <a:xfrm>
            <a:off x="1371600" y="2240280"/>
            <a:ext cx="9445752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500" i="1" lang="en-US">
                <a:solidFill>
                  <a:srgbClr val="00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"Transforming Traditional Attendance into Intelligent Automation"</a:t>
            </a:r>
            <a:endParaRPr dirty="0" sz="1500" lang="en-US"/>
          </a:p>
        </p:txBody>
      </p:sp>
      <p:pic>
        <p:nvPicPr>
          <p:cNvPr id="2097209" name="Image 0" descr="/home/claude/cloudppt/assets/bolt_0086A8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2743200" y="3218688"/>
            <a:ext cx="256032" cy="256032"/>
          </a:xfrm>
          <a:prstGeom prst="rect"/>
        </p:spPr>
      </p:pic>
      <p:sp>
        <p:nvSpPr>
          <p:cNvPr id="1048779" name="Text 2"/>
          <p:cNvSpPr/>
          <p:nvPr/>
        </p:nvSpPr>
        <p:spPr>
          <a:xfrm>
            <a:off x="3127248" y="3145536"/>
            <a:ext cx="6291072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attendance improves efficiency</a:t>
            </a:r>
            <a:endParaRPr dirty="0" sz="1600" lang="en-US"/>
          </a:p>
        </p:txBody>
      </p:sp>
      <p:pic>
        <p:nvPicPr>
          <p:cNvPr id="2097210" name="Image 1" descr="/home/claude/cloudppt/assets/expand_0086A8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2743200" y="3538728"/>
            <a:ext cx="256032" cy="256032"/>
          </a:xfrm>
          <a:prstGeom prst="rect"/>
        </p:spPr>
      </p:pic>
      <p:sp>
        <p:nvSpPr>
          <p:cNvPr id="1048780" name="Text 3"/>
          <p:cNvSpPr/>
          <p:nvPr/>
        </p:nvSpPr>
        <p:spPr>
          <a:xfrm>
            <a:off x="3127248" y="3465576"/>
            <a:ext cx="6291072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provides scalability</a:t>
            </a:r>
            <a:endParaRPr dirty="0" sz="1600" lang="en-US"/>
          </a:p>
        </p:txBody>
      </p:sp>
      <p:pic>
        <p:nvPicPr>
          <p:cNvPr id="2097211" name="Image 2" descr="/home/claude/cloudppt/assets/face_id_0086A8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2743200" y="3858768"/>
            <a:ext cx="256032" cy="256032"/>
          </a:xfrm>
          <a:prstGeom prst="rect"/>
        </p:spPr>
      </p:pic>
      <p:sp>
        <p:nvSpPr>
          <p:cNvPr id="1048781" name="Text 4"/>
          <p:cNvSpPr/>
          <p:nvPr/>
        </p:nvSpPr>
        <p:spPr>
          <a:xfrm>
            <a:off x="3127248" y="3785616"/>
            <a:ext cx="6291072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ensures accuracy</a:t>
            </a:r>
            <a:endParaRPr dirty="0" sz="1600" lang="en-US"/>
          </a:p>
        </p:txBody>
      </p:sp>
      <p:pic>
        <p:nvPicPr>
          <p:cNvPr id="2097212" name="Image 3" descr="/home/claude/cloudppt/assets/shield_0086A8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2743200" y="4178808"/>
            <a:ext cx="256032" cy="256032"/>
          </a:xfrm>
          <a:prstGeom prst="rect"/>
        </p:spPr>
      </p:pic>
      <p:sp>
        <p:nvSpPr>
          <p:cNvPr id="1048782" name="Text 5"/>
          <p:cNvSpPr/>
          <p:nvPr/>
        </p:nvSpPr>
        <p:spPr>
          <a:xfrm>
            <a:off x="3127248" y="4105656"/>
            <a:ext cx="6291072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automation reduces human effort</a:t>
            </a:r>
            <a:endParaRPr dirty="0" sz="1600" lang="en-US"/>
          </a:p>
        </p:txBody>
      </p:sp>
      <p:sp>
        <p:nvSpPr>
          <p:cNvPr id="1048783" name="Text 6"/>
          <p:cNvSpPr/>
          <p:nvPr/>
        </p:nvSpPr>
        <p:spPr>
          <a:xfrm>
            <a:off x="0" y="5852160"/>
            <a:ext cx="12191695" cy="3657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300" kern="0" lang="en-US" spc="150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dirty="0" sz="1300" lang="en-US"/>
          </a:p>
        </p:txBody>
      </p:sp>
      <p:sp>
        <p:nvSpPr>
          <p:cNvPr id="1048784" name="Shape 7"/>
          <p:cNvSpPr/>
          <p:nvPr/>
        </p:nvSpPr>
        <p:spPr>
          <a:xfrm>
            <a:off x="640080" y="6355080"/>
            <a:ext cx="10911535" cy="0"/>
          </a:xfrm>
          <a:prstGeom prst="line"/>
          <a:noFill/>
          <a:ln w="12700">
            <a:solidFill>
              <a:srgbClr val="DCE1F2"/>
            </a:solidFill>
            <a:prstDash val="solid"/>
          </a:ln>
        </p:spPr>
        <p:txBody>
          <a:bodyPr/>
          <a:p>
            <a:endParaRPr lang="en-IN"/>
          </a:p>
        </p:txBody>
      </p:sp>
      <p:sp>
        <p:nvSpPr>
          <p:cNvPr id="1048785" name="Text 8"/>
          <p:cNvSpPr/>
          <p:nvPr/>
        </p:nvSpPr>
        <p:spPr>
          <a:xfrm>
            <a:off x="640080" y="6473952"/>
            <a:ext cx="548640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00" kern="0" lang="en-US" spc="100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dirty="0" sz="1000" lang="en-US"/>
          </a:p>
        </p:txBody>
      </p:sp>
      <p:sp>
        <p:nvSpPr>
          <p:cNvPr id="1048786" name="Text 9"/>
          <p:cNvSpPr/>
          <p:nvPr/>
        </p:nvSpPr>
        <p:spPr>
          <a:xfrm>
            <a:off x="10728655" y="6473952"/>
            <a:ext cx="100584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dirty="0" sz="1000" lang="en-US"/>
          </a:p>
        </p:txBody>
      </p:sp>
      <p:sp>
        <p:nvSpPr>
          <p:cNvPr id="1048787" name="Text 10"/>
          <p:cNvSpPr/>
          <p:nvPr/>
        </p:nvSpPr>
        <p:spPr>
          <a:xfrm>
            <a:off x="4267048" y="6473952"/>
            <a:ext cx="3657600" cy="2743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900" kern="0" lang="en-US" spc="200">
                <a:solidFill>
                  <a:srgbClr val="55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ATTENDANCE • AI</a:t>
            </a:r>
            <a:endParaRPr dirty="0" sz="900"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>
  <Application>Microsoft Office PowerPoint</Application>
  <ScaleCrop>0</ScaleCrop>
  <Company>PptxGenJS</Company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PptxGenJS Presentation</dc:title>
  <dc:creator>PptxGenJS</dc:creator>
  <cp:lastModifiedBy>Ruthesh B</cp:lastModifiedBy>
  <dcterms:created xsi:type="dcterms:W3CDTF">2026-07-22T16:37:35Z</dcterms:created>
  <dcterms:modified xsi:type="dcterms:W3CDTF">2026-07-23T05:38:08Z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adeb1b882afb45af92a711b2a05414c9_23</vt:lpwstr>
  </property>
</Properties>
</file>