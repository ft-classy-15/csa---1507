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2" r:id="rId4"/>
    <p:sldId id="271" r:id="rId5"/>
    <p:sldId id="263" r:id="rId6"/>
    <p:sldId id="264" r:id="rId7"/>
    <p:sldId id="278" r:id="rId8"/>
    <p:sldId id="280" r:id="rId9"/>
    <p:sldId id="281" r:id="rId10"/>
    <p:sldId id="279" r:id="rId11"/>
    <p:sldId id="272" r:id="rId12"/>
    <p:sldId id="277" r:id="rId13"/>
    <p:sldId id="268" r:id="rId14"/>
    <p:sldId id="269" r:id="rId15"/>
    <p:sldId id="270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hesh B" userId="ad6951f3835cd4b7" providerId="LiveId" clId="{46CF9F1B-1CF8-4970-9296-DD82F720B0D4}"/>
    <pc:docChg chg="modSld">
      <pc:chgData name="Ruthesh B" userId="ad6951f3835cd4b7" providerId="LiveId" clId="{46CF9F1B-1CF8-4970-9296-DD82F720B0D4}" dt="2026-08-06T02:37:31.535" v="47" actId="20577"/>
      <pc:docMkLst>
        <pc:docMk/>
      </pc:docMkLst>
      <pc:sldChg chg="modSp mod">
        <pc:chgData name="Ruthesh B" userId="ad6951f3835cd4b7" providerId="LiveId" clId="{46CF9F1B-1CF8-4970-9296-DD82F720B0D4}" dt="2026-08-06T02:37:31.535" v="47" actId="20577"/>
        <pc:sldMkLst>
          <pc:docMk/>
          <pc:sldMk cId="0" sldId="256"/>
        </pc:sldMkLst>
        <pc:spChg chg="mod">
          <ac:chgData name="Ruthesh B" userId="ad6951f3835cd4b7" providerId="LiveId" clId="{46CF9F1B-1CF8-4970-9296-DD82F720B0D4}" dt="2026-08-06T02:37:31.535" v="4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Ruthesh B" userId="ad6951f3835cd4b7" providerId="LiveId" clId="{46CF9F1B-1CF8-4970-9296-DD82F720B0D4}" dt="2026-08-06T02:37:13.761" v="25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0;p13" descr="SSE-Computer Science and Engineering"/>
          <p:cNvPicPr preferRelativeResize="0"/>
          <p:nvPr/>
        </p:nvPicPr>
        <p:blipFill rotWithShape="1">
          <a:blip r:embed="rId2"/>
          <a:srcRect r="89032"/>
          <a:stretch>
            <a:fillRect/>
          </a:stretch>
        </p:blipFill>
        <p:spPr>
          <a:xfrm>
            <a:off x="141415" y="118722"/>
            <a:ext cx="1230185" cy="11436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1491342" y="4407722"/>
            <a:ext cx="4682512" cy="19690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000" dirty="0">
                <a:latin typeface="Sitka Heading" pitchFamily="2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</a:t>
            </a:r>
          </a:p>
          <a:p>
            <a:r>
              <a:rPr lang="en-US" sz="2000" dirty="0">
                <a:latin typeface="Sitka Heading" pitchFamily="2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 RUTHESH (192521465)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371600" y="118722"/>
            <a:ext cx="9293290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sz="4000" b="1" dirty="0" err="1">
                <a:solidFill>
                  <a:schemeClr val="accent4">
                    <a:lumMod val="75000"/>
                  </a:schemeClr>
                </a:solidFill>
                <a:latin typeface="Sitka Heading" pitchFamily="2" charset="0"/>
                <a:cs typeface="Times New Roman" panose="02020603050405020304" pitchFamily="18" charset="0"/>
                <a:sym typeface="+mn-ea"/>
              </a:rPr>
              <a:t>WorkFlow</a:t>
            </a:r>
            <a:r>
              <a:rPr lang="en-US" altLang="en-US" sz="4000" b="1" dirty="0">
                <a:solidFill>
                  <a:schemeClr val="accent4">
                    <a:lumMod val="75000"/>
                  </a:schemeClr>
                </a:solidFill>
                <a:latin typeface="Sitka Heading" pitchFamily="2" charset="0"/>
                <a:cs typeface="Times New Roman" panose="02020603050405020304" pitchFamily="18" charset="0"/>
                <a:sym typeface="+mn-ea"/>
              </a:rPr>
              <a:t>-CRM: A Multi-Tenant Customer Relationship &amp; Workflow Management System for Service &amp; Repair Shops</a:t>
            </a:r>
          </a:p>
        </p:txBody>
      </p:sp>
      <p:sp>
        <p:nvSpPr>
          <p:cNvPr id="2" name="Text Box 7"/>
          <p:cNvSpPr txBox="1"/>
          <p:nvPr/>
        </p:nvSpPr>
        <p:spPr>
          <a:xfrm>
            <a:off x="7194145" y="4924877"/>
            <a:ext cx="3506513" cy="93474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n-US" dirty="0">
                <a:latin typeface="Sitka Heading" pitchFamily="2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Supervised By</a:t>
            </a:r>
          </a:p>
          <a:p>
            <a:pPr algn="r"/>
            <a:r>
              <a:rPr lang="en-US" dirty="0">
                <a:latin typeface="Sitka Heading" pitchFamily="2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>
                <a:latin typeface="Sitka Heading" pitchFamily="2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Dr.Anuradha</a:t>
            </a:r>
            <a:endParaRPr lang="en-US" dirty="0">
              <a:latin typeface="Sitka Heading" pitchFamily="2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Google Shape;100;p13" descr="SSE-Computer Science and Engineering"/>
          <p:cNvPicPr preferRelativeResize="0"/>
          <p:nvPr/>
        </p:nvPicPr>
        <p:blipFill rotWithShape="1">
          <a:blip r:embed="rId2"/>
          <a:srcRect l="50455" r="33949"/>
          <a:stretch>
            <a:fillRect/>
          </a:stretch>
        </p:blipFill>
        <p:spPr>
          <a:xfrm>
            <a:off x="10442753" y="118722"/>
            <a:ext cx="1749247" cy="11436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482668" y="3190473"/>
            <a:ext cx="90711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Sitka Heading" pitchFamily="2" charset="0"/>
              </a:rPr>
              <a:t>CSA1553 - Cloud Computing &amp; Big Data Analytics Using NAS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3847279" y="347046"/>
            <a:ext cx="44974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28601" y="1559716"/>
            <a:ext cx="5867400" cy="4859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The Operational Problem: Traditional service/repair shops struggle with highly fragmented customer tickets, a lack of real-time repair tracking, and offline, uncontrolled parts purchasing.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The Unified Solution: </a:t>
            </a:r>
            <a:r>
              <a:rPr lang="en-US" altLang="en-US" dirty="0" err="1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WorkFlow</a:t>
            </a: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-CRM acts as a central cloud platform, seamlessly linking client ticketing, engineering workflows, and procurement operations.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Modern Technical Paradigm: Employs a blazing-fast serverless architecture featuring React 18, TypeScript, Tailwind CSS, Radix UI, and Firebase for responsive, real-time collaboration.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Target Audience: Multi-branch electronics service centers, mechanical repair workshops, and medium-sized enterprise maintenance departments.</a:t>
            </a:r>
            <a:endParaRPr lang="en-US" altLang="en-US" b="0" i="0" dirty="0">
              <a:solidFill>
                <a:schemeClr val="tx1"/>
              </a:solidFill>
              <a:effectLst/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73197-C64F-8422-E748-57A12568F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06525"/>
            <a:ext cx="6095999" cy="33277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591204" y="347046"/>
            <a:ext cx="91468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8580" y="1576263"/>
            <a:ext cx="11732054" cy="4600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endParaRPr lang="en-US" altLang="en-US" dirty="0">
              <a:latin typeface="Sitka Text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39F82-012A-4FA8-6631-C7A4C46221FD}"/>
              </a:ext>
            </a:extLst>
          </p:cNvPr>
          <p:cNvSpPr txBox="1"/>
          <p:nvPr/>
        </p:nvSpPr>
        <p:spPr>
          <a:xfrm>
            <a:off x="228600" y="1778284"/>
            <a:ext cx="5867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Logical Multi-Tenant Isolation: Provides robust SaaS capabilities where each shop operates within its own secured database instance, preventing cross-tenant data visibility.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End-to-End Task Orchestration: Automates the repair lifecycle from client intake and ticket creation, to technician dispatch, parts requests, and final delivery.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Persona-Driven Dashboards: Connects four customized user roles (Owner, Admin, Engineer, Purchase Manager) with UI elements tailored to their exact daily workflows.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Zero-Refresh Synchronization: Built on </a:t>
            </a:r>
            <a:r>
              <a:rPr lang="en-IN" dirty="0" err="1">
                <a:latin typeface="Sitka Heading" pitchFamily="2" charset="0"/>
              </a:rPr>
              <a:t>Firestore</a:t>
            </a:r>
            <a:r>
              <a:rPr lang="en-IN" dirty="0">
                <a:latin typeface="Sitka Heading" pitchFamily="2" charset="0"/>
              </a:rPr>
              <a:t> real-time listeners (</a:t>
            </a:r>
            <a:r>
              <a:rPr lang="en-IN" dirty="0" err="1">
                <a:latin typeface="Sitka Heading" pitchFamily="2" charset="0"/>
              </a:rPr>
              <a:t>onSnapshot</a:t>
            </a:r>
            <a:r>
              <a:rPr lang="en-IN" dirty="0">
                <a:latin typeface="Sitka Heading" pitchFamily="2" charset="0"/>
              </a:rPr>
              <a:t>) so all staff members get instant updates without manual browser reloads.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82BB17-FD8F-69B1-E543-77C03CA9F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63" r="5059"/>
          <a:stretch>
            <a:fillRect/>
          </a:stretch>
        </p:blipFill>
        <p:spPr>
          <a:xfrm>
            <a:off x="6324600" y="2022505"/>
            <a:ext cx="5867400" cy="3708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95145" y="347046"/>
            <a:ext cx="8601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spc="-10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477383" y="1942607"/>
            <a:ext cx="90331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ctr">
              <a:buFont typeface="Symbol" panose="05050102010706020507" pitchFamily="18" charset="2"/>
              <a:buChar char=""/>
            </a:pPr>
            <a:r>
              <a:rPr lang="en-US" dirty="0">
                <a:solidFill>
                  <a:srgbClr val="0D0D0D"/>
                </a:solidFill>
                <a:latin typeface="Sitka Heading" pitchFamily="2" charset="0"/>
                <a:cs typeface="Times New Roman" panose="02020603050405020304" pitchFamily="18" charset="0"/>
              </a:rPr>
              <a:t>Accelerate Repair Cycles: Streamline ticket assignment and technician handover to dramatically reduce average repair turnaround times.</a:t>
            </a:r>
          </a:p>
          <a:p>
            <a:pPr marL="285750" indent="-285750" algn="just" fontAlgn="ctr">
              <a:buFont typeface="Symbol" panose="05050102010706020507" pitchFamily="18" charset="2"/>
              <a:buChar char=""/>
            </a:pPr>
            <a:endParaRPr lang="en-US" dirty="0">
              <a:solidFill>
                <a:srgbClr val="0D0D0D"/>
              </a:solidFill>
              <a:latin typeface="Sitka Heading" pitchFamily="2" charset="0"/>
              <a:cs typeface="Times New Roman" panose="02020603050405020304" pitchFamily="18" charset="0"/>
            </a:endParaRPr>
          </a:p>
          <a:p>
            <a:pPr marL="285750" indent="-285750" algn="just" fontAlgn="ctr">
              <a:buFont typeface="Symbol" panose="05050102010706020507" pitchFamily="18" charset="2"/>
              <a:buChar char=""/>
            </a:pPr>
            <a:r>
              <a:rPr lang="en-US" dirty="0">
                <a:solidFill>
                  <a:srgbClr val="0D0D0D"/>
                </a:solidFill>
                <a:latin typeface="Sitka Heading" pitchFamily="2" charset="0"/>
                <a:cs typeface="Times New Roman" panose="02020603050405020304" pitchFamily="18" charset="0"/>
              </a:rPr>
              <a:t>Enforce Procurement Transparency: Implement a strict, multi-tier approval system for replacement parts to track estimated vs. actual expenses and prevent unauthorized purchases.</a:t>
            </a:r>
          </a:p>
          <a:p>
            <a:pPr marL="285750" indent="-285750" algn="just" fontAlgn="ctr">
              <a:buFont typeface="Symbol" panose="05050102010706020507" pitchFamily="18" charset="2"/>
              <a:buChar char=""/>
            </a:pPr>
            <a:endParaRPr lang="en-US" dirty="0">
              <a:solidFill>
                <a:srgbClr val="0D0D0D"/>
              </a:solidFill>
              <a:latin typeface="Sitka Heading" pitchFamily="2" charset="0"/>
              <a:cs typeface="Times New Roman" panose="02020603050405020304" pitchFamily="18" charset="0"/>
            </a:endParaRPr>
          </a:p>
          <a:p>
            <a:pPr marL="285750" indent="-285750" algn="just" fontAlgn="ctr">
              <a:buFont typeface="Symbol" panose="05050102010706020507" pitchFamily="18" charset="2"/>
              <a:buChar char=""/>
            </a:pPr>
            <a:r>
              <a:rPr lang="en-US" dirty="0">
                <a:solidFill>
                  <a:srgbClr val="0D0D0D"/>
                </a:solidFill>
                <a:latin typeface="Sitka Heading" pitchFamily="2" charset="0"/>
                <a:cs typeface="Times New Roman" panose="02020603050405020304" pitchFamily="18" charset="0"/>
              </a:rPr>
              <a:t>Establish SaaS Security Controls: Enforce bulletproof multi-tenant separation using declarative </a:t>
            </a:r>
            <a:r>
              <a:rPr lang="en-US" dirty="0" err="1">
                <a:solidFill>
                  <a:srgbClr val="0D0D0D"/>
                </a:solidFill>
                <a:latin typeface="Sitka Heading" pitchFamily="2" charset="0"/>
                <a:cs typeface="Times New Roman" panose="02020603050405020304" pitchFamily="18" charset="0"/>
              </a:rPr>
              <a:t>Firestore</a:t>
            </a:r>
            <a:r>
              <a:rPr lang="en-US" dirty="0">
                <a:solidFill>
                  <a:srgbClr val="0D0D0D"/>
                </a:solidFill>
                <a:latin typeface="Sitka Heading" pitchFamily="2" charset="0"/>
                <a:cs typeface="Times New Roman" panose="02020603050405020304" pitchFamily="18" charset="0"/>
              </a:rPr>
              <a:t> Security Rules and custom client-side navigation filters.</a:t>
            </a:r>
          </a:p>
          <a:p>
            <a:pPr marL="285750" indent="-285750" algn="just" fontAlgn="ctr">
              <a:buFont typeface="Symbol" panose="05050102010706020507" pitchFamily="18" charset="2"/>
              <a:buChar char=""/>
            </a:pPr>
            <a:endParaRPr lang="en-US" dirty="0">
              <a:solidFill>
                <a:srgbClr val="0D0D0D"/>
              </a:solidFill>
              <a:latin typeface="Sitka Heading" pitchFamily="2" charset="0"/>
              <a:cs typeface="Times New Roman" panose="02020603050405020304" pitchFamily="18" charset="0"/>
            </a:endParaRPr>
          </a:p>
          <a:p>
            <a:pPr marL="285750" indent="-285750" algn="just" fontAlgn="ctr">
              <a:buFont typeface="Symbol" panose="05050102010706020507" pitchFamily="18" charset="2"/>
              <a:buChar char=""/>
            </a:pPr>
            <a:r>
              <a:rPr lang="en-US" dirty="0">
                <a:solidFill>
                  <a:srgbClr val="0D0D0D"/>
                </a:solidFill>
                <a:latin typeface="Sitka Heading" pitchFamily="2" charset="0"/>
                <a:cs typeface="Times New Roman" panose="02020603050405020304" pitchFamily="18" charset="0"/>
              </a:rPr>
              <a:t>Enable Actionable Operations Management: Empower owners with real-time KPI counters, interactive Recharts visualization, and an immutable system activity log.</a:t>
            </a:r>
            <a:endParaRPr lang="en-US" b="0" i="0" dirty="0">
              <a:solidFill>
                <a:srgbClr val="0D0D0D"/>
              </a:solidFill>
              <a:effectLst/>
              <a:latin typeface="Sitka Heading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25"/>
            <a:ext cx="1135380" cy="1115060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90" cy="11150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1522730" y="60325"/>
            <a:ext cx="9146540" cy="118064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500" b="1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MODULE 1: MULTI-TENANT SHOP MANAGEMENT &amp; AUTHENTICATION</a:t>
            </a:r>
            <a:endParaRPr lang="en-US" sz="3500" b="1" i="0" dirty="0">
              <a:solidFill>
                <a:schemeClr val="tx1"/>
              </a:solidFill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8600" y="2053519"/>
            <a:ext cx="7694295" cy="44869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/>
            <a:endParaRPr lang="en-US" altLang="en-US" b="0" i="0" dirty="0">
              <a:solidFill>
                <a:schemeClr val="tx1"/>
              </a:solidFill>
              <a:latin typeface="Sitka Text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849090-ED15-4D58-8C8C-FEDE584AB816}"/>
              </a:ext>
            </a:extLst>
          </p:cNvPr>
          <p:cNvSpPr txBox="1"/>
          <p:nvPr/>
        </p:nvSpPr>
        <p:spPr>
          <a:xfrm>
            <a:off x="228600" y="1556095"/>
            <a:ext cx="60975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 err="1">
                <a:latin typeface="Sitka Heading" pitchFamily="2" charset="0"/>
              </a:rPr>
              <a:t>Passwordless</a:t>
            </a:r>
            <a:r>
              <a:rPr lang="en-IN" dirty="0">
                <a:latin typeface="Sitka Heading" pitchFamily="2" charset="0"/>
              </a:rPr>
              <a:t> Google OAuth: Simplifies employee onboarding and guarantees access control via standard Google OAuth 2.0.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Logical Shop Provisioning: Allows shop owners to instantly initialize virtual shops and configure custom names, operational settings, and employee groups.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Onboarding Queue: Automatically places new employee registrations in a pending state, redirecting them to a secure "Waiting for Approval" screen until active authorization is granted.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Tenant Data Separation: Isolates all records (tickets, logs, purchases) within </a:t>
            </a:r>
            <a:r>
              <a:rPr lang="en-IN" dirty="0" err="1">
                <a:latin typeface="Sitka Heading" pitchFamily="2" charset="0"/>
              </a:rPr>
              <a:t>Firestore</a:t>
            </a:r>
            <a:r>
              <a:rPr lang="en-IN" dirty="0">
                <a:latin typeface="Sitka Heading" pitchFamily="2" charset="0"/>
              </a:rPr>
              <a:t> using strict path routing keys keyed under /shops/{</a:t>
            </a:r>
            <a:r>
              <a:rPr lang="en-IN" dirty="0" err="1">
                <a:latin typeface="Sitka Heading" pitchFamily="2" charset="0"/>
              </a:rPr>
              <a:t>shopId</a:t>
            </a:r>
            <a:r>
              <a:rPr lang="en-IN" dirty="0">
                <a:latin typeface="Sitka Heading" pitchFamily="2" charset="0"/>
              </a:rPr>
              <a:t>}.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558544-4946-AA37-0D37-2256569B28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7" r="7070"/>
          <a:stretch>
            <a:fillRect/>
          </a:stretch>
        </p:blipFill>
        <p:spPr>
          <a:xfrm>
            <a:off x="6523679" y="2108611"/>
            <a:ext cx="5501951" cy="34192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522599" y="237930"/>
            <a:ext cx="9146803" cy="11652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500" b="1" dirty="0">
                <a:latin typeface="Sitka Heading" pitchFamily="2" charset="0"/>
                <a:ea typeface="ui-sans-serif"/>
                <a:cs typeface="Times New Roman" panose="02020603050405020304" pitchFamily="18" charset="0"/>
                <a:sym typeface="+mn-ea"/>
              </a:rPr>
              <a:t>MODULE 2: ROLE-BASED ACCESS CONTROL (RBAC) &amp; USER MANAGEMENT</a:t>
            </a:r>
            <a:endParaRPr lang="en-US" sz="3500" b="1" dirty="0">
              <a:solidFill>
                <a:schemeClr val="tx1"/>
              </a:solidFill>
              <a:latin typeface="Sitka Heading" pitchFamily="2" charset="0"/>
              <a:ea typeface="ui-sans-serif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" y="1735747"/>
            <a:ext cx="5867400" cy="45250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Four-Tiered Permission Matrix: Features fine-grained control for Owner (full system access), Admin (ticketing &amp; assignment), Engineer (repair status &amp; part requests), and Purchase Manager (order logistics).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Owner Administration Hub: A centralized panel allowing owners to add employees, edit profiles, switch roles, deactivate accounts, and audit logs.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Dynamic Nav Filtering: Renders client-side routes and mobile navigation bottom-tabs on the fly, showing only the tabs accessible to the logged-in user's role.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altLang="en-US" dirty="0"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Double-Layer Access Validation: Protects endpoints using client-side router guards in React and server-side constraints via </a:t>
            </a:r>
            <a:r>
              <a:rPr lang="en-US" altLang="en-US" dirty="0" err="1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Firestore</a:t>
            </a:r>
            <a:r>
              <a:rPr lang="en-US" altLang="en-US" dirty="0">
                <a:latin typeface="Sitka Heading" pitchFamily="2" charset="0"/>
                <a:ea typeface="ui-sans-serif"/>
                <a:cs typeface="Times New Roman" panose="02020603050405020304" pitchFamily="18" charset="0"/>
              </a:rPr>
              <a:t> database-level security rules.</a:t>
            </a:r>
            <a:endParaRPr lang="en-US" altLang="en-US" b="0" i="0" dirty="0">
              <a:solidFill>
                <a:schemeClr val="tx1"/>
              </a:solidFill>
              <a:latin typeface="Sitka Heading" pitchFamily="2" charset="0"/>
              <a:ea typeface="ui-sans-serif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60BDF-1B98-D76A-B83B-6EFE43CE78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917"/>
          <a:stretch>
            <a:fillRect/>
          </a:stretch>
        </p:blipFill>
        <p:spPr>
          <a:xfrm>
            <a:off x="6192194" y="2920482"/>
            <a:ext cx="5771206" cy="15185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363718" y="228600"/>
            <a:ext cx="9146802" cy="11746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500" b="1" dirty="0">
                <a:latin typeface="Sitka Heading" pitchFamily="2" charset="0"/>
                <a:ea typeface="ui-sans-serif"/>
                <a:cs typeface="Times New Roman" panose="02020603050405020304" pitchFamily="18" charset="0"/>
                <a:sym typeface="+mn-ea"/>
              </a:rPr>
              <a:t>MODULE 3: TICKET LIFECYCLE &amp; WORKFLOW ENGINE</a:t>
            </a:r>
            <a:endParaRPr lang="en-US" sz="3500" b="1" dirty="0">
              <a:solidFill>
                <a:schemeClr val="tx1"/>
              </a:solidFill>
              <a:latin typeface="Sitka Heading" pitchFamily="2" charset="0"/>
              <a:ea typeface="ui-sans-serif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" y="2024996"/>
            <a:ext cx="6937375" cy="430977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/>
            <a:endParaRPr lang="en-US" altLang="en-US" b="0" i="0" dirty="0">
              <a:solidFill>
                <a:schemeClr val="tx1"/>
              </a:solidFill>
              <a:latin typeface="Sitka Text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1571414"/>
            <a:ext cx="586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Consecutive Ticket Generation: Employs synchronized database counters in transaction-safe calls to generate unique, sequential ticket IDs (e.g., DS1000, DS1001).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Workflow Engine Enforcement: Implements a strict status transition workflow</a:t>
            </a:r>
          </a:p>
          <a:p>
            <a:pPr algn="just"/>
            <a:r>
              <a:rPr lang="en-US" dirty="0">
                <a:latin typeface="Sitka Heading" pitchFamily="2" charset="0"/>
              </a:rPr>
              <a:t>(e.g., </a:t>
            </a:r>
            <a:r>
              <a:rPr lang="en-US" dirty="0" err="1">
                <a:latin typeface="Sitka Heading" pitchFamily="2" charset="0"/>
              </a:rPr>
              <a:t>pending_assignment</a:t>
            </a:r>
            <a:r>
              <a:rPr lang="en-US" dirty="0">
                <a:latin typeface="Sitka Heading" pitchFamily="2" charset="0"/>
              </a:rPr>
              <a:t> ➔ assigned ➔ </a:t>
            </a:r>
            <a:r>
              <a:rPr lang="en-US" dirty="0" err="1">
                <a:latin typeface="Sitka Heading" pitchFamily="2" charset="0"/>
              </a:rPr>
              <a:t>in_progress</a:t>
            </a:r>
            <a:r>
              <a:rPr lang="en-US" dirty="0">
                <a:latin typeface="Sitka Heading" pitchFamily="2" charset="0"/>
              </a:rPr>
              <a:t> ➔ </a:t>
            </a:r>
            <a:r>
              <a:rPr lang="en-US" dirty="0" err="1">
                <a:latin typeface="Sitka Heading" pitchFamily="2" charset="0"/>
              </a:rPr>
              <a:t>purchase_await</a:t>
            </a:r>
            <a:r>
              <a:rPr lang="en-US" dirty="0">
                <a:latin typeface="Sitka Heading" pitchFamily="2" charset="0"/>
              </a:rPr>
              <a:t> ➔ ready ➔ delivered).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Rich Diagnostic Fields: Captures hardware specifications (Model, Brand, Components), customer details, issues, delivery schedules, and financials (Charged, Paid, Balance Due).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Exception Handlers: Built-in statuses for operational edge cases like </a:t>
            </a:r>
            <a:r>
              <a:rPr lang="en-US" dirty="0" err="1">
                <a:latin typeface="Sitka Heading" pitchFamily="2" charset="0"/>
              </a:rPr>
              <a:t>customer_hold</a:t>
            </a:r>
            <a:r>
              <a:rPr lang="en-US" dirty="0">
                <a:latin typeface="Sitka Heading" pitchFamily="2" charset="0"/>
              </a:rPr>
              <a:t> (with a calendar date picker) and return (to send a delivered device back to rework).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453A7B-3D7E-0E34-C0D4-B5A068E96F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32" t="17716" r="4739" b="9257"/>
          <a:stretch>
            <a:fillRect/>
          </a:stretch>
        </p:blipFill>
        <p:spPr>
          <a:xfrm>
            <a:off x="6324600" y="2822932"/>
            <a:ext cx="5867400" cy="2575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79E6-4352-2753-7632-63D27800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97542B-FBF5-B590-41B9-026B549694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C475A5-B0A1-43BE-D2D4-616DD1C5CF9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>
            <a:extLst>
              <a:ext uri="{FF2B5EF4-FFF2-40B4-BE49-F238E27FC236}">
                <a16:creationId xmlns:a16="http://schemas.microsoft.com/office/drawing/2014/main" id="{105C953E-EBB5-3C28-3A35-F8B7AB579D2D}"/>
              </a:ext>
            </a:extLst>
          </p:cNvPr>
          <p:cNvSpPr txBox="1"/>
          <p:nvPr/>
        </p:nvSpPr>
        <p:spPr>
          <a:xfrm>
            <a:off x="1363718" y="228600"/>
            <a:ext cx="9146802" cy="11746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500" b="1" dirty="0">
                <a:latin typeface="Sitka Heading" pitchFamily="2" charset="0"/>
                <a:ea typeface="ui-sans-serif"/>
                <a:cs typeface="Times New Roman" panose="02020603050405020304" pitchFamily="18" charset="0"/>
                <a:sym typeface="+mn-ea"/>
              </a:rPr>
              <a:t>MODULE 4: INTEGRATED PARTS PROCUREMENT &amp; PURCHASE WORKFLOW</a:t>
            </a:r>
            <a:endParaRPr lang="en-US" sz="3500" b="1" dirty="0">
              <a:solidFill>
                <a:schemeClr val="tx1"/>
              </a:solidFill>
              <a:latin typeface="Sitka Heading" pitchFamily="2" charset="0"/>
              <a:ea typeface="ui-sans-serif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F0A267-8EAB-97DA-C363-7CB58F3F58AA}"/>
              </a:ext>
            </a:extLst>
          </p:cNvPr>
          <p:cNvSpPr txBox="1"/>
          <p:nvPr/>
        </p:nvSpPr>
        <p:spPr>
          <a:xfrm>
            <a:off x="228600" y="2024996"/>
            <a:ext cx="6937375" cy="430977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/>
            <a:endParaRPr lang="en-US" altLang="en-US" b="0" i="0" dirty="0">
              <a:solidFill>
                <a:schemeClr val="tx1"/>
              </a:solidFill>
              <a:latin typeface="Sitka Text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183F4-B8B7-2F68-0BAB-A3D2B3E1ADE4}"/>
              </a:ext>
            </a:extLst>
          </p:cNvPr>
          <p:cNvSpPr txBox="1"/>
          <p:nvPr/>
        </p:nvSpPr>
        <p:spPr>
          <a:xfrm>
            <a:off x="228600" y="1571414"/>
            <a:ext cx="586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Technician-Initiated Requests: Enables engineers to instantly request specific parts directly from their active ticket card, detailing names, quantities, and cost estimates.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Owner Approval Loop: Features an owner dashboard where requests are reviewed, then either approved (moving status to initiated for the mediator) or rejected with audit reasons.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Dedicated Procurement Dashboard: Provides Purchase Managers with a focused workflow to coordinate with suppliers, log actual purchase prices, and set delivery statuses.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Cost Difference Tracking: Automatically computes actual vs. estimated cost differentials to provide clean, actionable financial tracking for parts procurement.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A94E8-5A16-9C05-B370-78D3D1ABD2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49" r="6130"/>
          <a:stretch>
            <a:fillRect/>
          </a:stretch>
        </p:blipFill>
        <p:spPr>
          <a:xfrm>
            <a:off x="6220407" y="2254604"/>
            <a:ext cx="5971593" cy="371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6BF9-5725-C571-AC84-9E281186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A6CD54-8828-C35C-212E-271951A6ACF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823512-D08D-3765-84AF-1E982F8397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>
            <a:extLst>
              <a:ext uri="{FF2B5EF4-FFF2-40B4-BE49-F238E27FC236}">
                <a16:creationId xmlns:a16="http://schemas.microsoft.com/office/drawing/2014/main" id="{49A5DEF8-0208-E368-F70E-7184B8AFAE95}"/>
              </a:ext>
            </a:extLst>
          </p:cNvPr>
          <p:cNvSpPr txBox="1"/>
          <p:nvPr/>
        </p:nvSpPr>
        <p:spPr>
          <a:xfrm>
            <a:off x="1363718" y="228600"/>
            <a:ext cx="9146802" cy="11746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500" b="1" dirty="0">
                <a:latin typeface="Sitka Heading" pitchFamily="2" charset="0"/>
                <a:ea typeface="ui-sans-serif"/>
                <a:cs typeface="Times New Roman" panose="02020603050405020304" pitchFamily="18" charset="0"/>
                <a:sym typeface="+mn-ea"/>
              </a:rPr>
              <a:t>MODULE 5: REAL-TIME ANALYTICS, ACTIVITY LOGGING &amp; REPORT EXPORT</a:t>
            </a:r>
            <a:endParaRPr lang="en-US" sz="3500" b="1" dirty="0">
              <a:solidFill>
                <a:schemeClr val="tx1"/>
              </a:solidFill>
              <a:latin typeface="Sitka Heading" pitchFamily="2" charset="0"/>
              <a:ea typeface="ui-sans-serif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C0D72A3-6A15-7E36-75FC-BE2D11FBB89B}"/>
              </a:ext>
            </a:extLst>
          </p:cNvPr>
          <p:cNvSpPr txBox="1"/>
          <p:nvPr/>
        </p:nvSpPr>
        <p:spPr>
          <a:xfrm>
            <a:off x="228600" y="2024996"/>
            <a:ext cx="6937375" cy="430977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/>
            <a:endParaRPr lang="en-US" altLang="en-US" b="0" i="0" dirty="0">
              <a:solidFill>
                <a:schemeClr val="tx1"/>
              </a:solidFill>
              <a:latin typeface="Sitka Text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7EE-5CD1-9B82-8420-87D6EF4708CB}"/>
              </a:ext>
            </a:extLst>
          </p:cNvPr>
          <p:cNvSpPr txBox="1"/>
          <p:nvPr/>
        </p:nvSpPr>
        <p:spPr>
          <a:xfrm>
            <a:off x="228600" y="1571414"/>
            <a:ext cx="5867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Live KPI Counters: Tracks active repairs, pending approvals, completed orders, and outstanding ticket counts instantly on the dashboard.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Interactive Data Charts: Embeds Recharts graphs (lines and bar charts) to display monthly ticket trends, brand analytics, and engineer performance stats.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Immutable Activity Auditing: Automatically logs a permanent trail of all crucial actions (user creation, ticket state modifications, approvals) containing author names and timestamps.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US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US" dirty="0">
                <a:latin typeface="Sitka Heading" pitchFamily="2" charset="0"/>
              </a:rPr>
              <a:t>Filtered Report Exports: Provides tools to export filtered ticket records into standard CSV files, supporting custom date ranges and billing sync.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D8D0E-6075-DFC5-6C94-7E0D66723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26895"/>
            <a:ext cx="5934634" cy="323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7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436915" y="360875"/>
            <a:ext cx="9073606" cy="74178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sz="4400" b="1" dirty="0">
                <a:solidFill>
                  <a:schemeClr val="tx1"/>
                </a:solidFill>
                <a:latin typeface="Sitka Heading" pitchFamily="2" charset="0"/>
                <a:ea typeface="ui-sans-serif"/>
                <a:cs typeface="Times New Roman" panose="02020603050405020304" pitchFamily="18" charset="0"/>
                <a:sym typeface="+mn-ea"/>
              </a:rPr>
              <a:t>METHODOLOGY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8600" y="2024996"/>
            <a:ext cx="6937375" cy="430977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/>
            <a:endParaRPr lang="en-US" altLang="en-US" b="0" i="0" dirty="0">
              <a:solidFill>
                <a:schemeClr val="tx1"/>
              </a:solidFill>
              <a:latin typeface="Sitka Text" pitchFamily="2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EB106-4AD5-88BA-3AE8-4E8AC688C6E0}"/>
              </a:ext>
            </a:extLst>
          </p:cNvPr>
          <p:cNvSpPr txBox="1"/>
          <p:nvPr/>
        </p:nvSpPr>
        <p:spPr>
          <a:xfrm>
            <a:off x="228600" y="1842138"/>
            <a:ext cx="118020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Agile Software Architecture: Utilized iterative sprint cycles, starting with clean user journeys and mobile layouts, followed by component abstraction and database integration.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Serverless First Principle: Utilized a lightweight, responsive serverless framework, binding client interfaces directly to Firebase databases without middleware latency.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Component-Driven Strategy: Crafted modular, reusable components using Radix UI (dialogs, dropdowns, alerts) and styled dynamically via Tailwind utility classes.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Reactive State Architecture: Implemented React Context API alongside </a:t>
            </a:r>
            <a:r>
              <a:rPr lang="en-IN" dirty="0" err="1">
                <a:latin typeface="Sitka Heading" pitchFamily="2" charset="0"/>
              </a:rPr>
              <a:t>Firestore</a:t>
            </a:r>
            <a:r>
              <a:rPr lang="en-IN" dirty="0">
                <a:latin typeface="Sitka Heading" pitchFamily="2" charset="0"/>
              </a:rPr>
              <a:t> real-time listeners, minimizing local state discrepancies across components.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63717" y="289136"/>
            <a:ext cx="91468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SYSTEM</a:t>
            </a:r>
            <a:r>
              <a:rPr lang="en-IN" sz="4400" b="1" spc="-145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DESIGN</a:t>
            </a:r>
            <a:r>
              <a:rPr lang="en-IN" sz="4400" b="1" spc="-120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 </a:t>
            </a:r>
            <a:r>
              <a:rPr lang="en-IN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/</a:t>
            </a:r>
            <a:r>
              <a:rPr lang="en-IN" sz="4400" b="1" spc="-120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 </a:t>
            </a:r>
            <a:r>
              <a:rPr lang="en-IN" sz="4400" b="1" spc="-10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A7B80C-7976-1E5E-C247-2915C6F78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388766"/>
            <a:ext cx="9753600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901869" y="409187"/>
            <a:ext cx="81400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spc="-10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1AC64-34D2-BE82-398D-0527621BF9D3}"/>
              </a:ext>
            </a:extLst>
          </p:cNvPr>
          <p:cNvSpPr txBox="1"/>
          <p:nvPr/>
        </p:nvSpPr>
        <p:spPr>
          <a:xfrm>
            <a:off x="228600" y="1859339"/>
            <a:ext cx="118020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Type-Safe Ecosystem: Constructed using React 18, Vite (for blazing fast builds), and strict TypeScript definitions to prevent runtime failures.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Transaction Safeguards: Prevented concurrent ticket creation collisions by using </a:t>
            </a:r>
            <a:r>
              <a:rPr lang="en-IN" dirty="0" err="1">
                <a:latin typeface="Sitka Heading" pitchFamily="2" charset="0"/>
              </a:rPr>
              <a:t>Firestore</a:t>
            </a:r>
            <a:r>
              <a:rPr lang="en-IN" dirty="0">
                <a:latin typeface="Sitka Heading" pitchFamily="2" charset="0"/>
              </a:rPr>
              <a:t> Transactions to secure consecutive ticket ID generation.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Logical Database Boundaries: Designed a nested collection structure /shops/{</a:t>
            </a:r>
            <a:r>
              <a:rPr lang="en-IN" dirty="0" err="1">
                <a:latin typeface="Sitka Heading" pitchFamily="2" charset="0"/>
              </a:rPr>
              <a:t>shopId</a:t>
            </a:r>
            <a:r>
              <a:rPr lang="en-IN" dirty="0">
                <a:latin typeface="Sitka Heading" pitchFamily="2" charset="0"/>
              </a:rPr>
              <a:t>}/tickets/... to enforce intuitive multi-tenant separation.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Robust </a:t>
            </a:r>
            <a:r>
              <a:rPr lang="en-IN" dirty="0" err="1">
                <a:latin typeface="Sitka Heading" pitchFamily="2" charset="0"/>
              </a:rPr>
              <a:t>Firestore</a:t>
            </a:r>
            <a:r>
              <a:rPr lang="en-IN" dirty="0">
                <a:latin typeface="Sitka Heading" pitchFamily="2" charset="0"/>
              </a:rPr>
              <a:t> Security Rules: Written declarative </a:t>
            </a:r>
            <a:r>
              <a:rPr lang="en-IN" dirty="0" err="1">
                <a:latin typeface="Sitka Heading" pitchFamily="2" charset="0"/>
              </a:rPr>
              <a:t>Firestore</a:t>
            </a:r>
            <a:r>
              <a:rPr lang="en-IN" dirty="0">
                <a:latin typeface="Sitka Heading" pitchFamily="2" charset="0"/>
              </a:rPr>
              <a:t> rules restricting data reads, writes, and updates based on authenticated user IDs and verified roles.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649730" y="356870"/>
            <a:ext cx="8142605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  <a:sym typeface="+mn-ea"/>
              </a:rPr>
              <a:t>RESULTS AND DISCUSSION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1403350"/>
            <a:ext cx="8032115" cy="52590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b="0" i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D686B-6950-03ED-E256-13843E1FB7BE}"/>
              </a:ext>
            </a:extLst>
          </p:cNvPr>
          <p:cNvSpPr txBox="1"/>
          <p:nvPr/>
        </p:nvSpPr>
        <p:spPr>
          <a:xfrm>
            <a:off x="124987" y="1720840"/>
            <a:ext cx="60975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Sub-Second Collaboration: Achieved instantaneous, zero-delay communication between administrative offices, workbench technicians, and procurement staff.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Accelerated Ticket Completion: Decreased the average repair cycle length by automating handoffs and part requests directly from ticket interfaces.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Enhanced Cost Controls: Eradicated shadow-spending on parts by routing all purchases through the Owner Approval and Purchase Manager tracking loop.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High Mobile Usability: Provided technicians with an intuitive mobile UI, allowing them to instantly update job statuses and request parts from their mobile devices on the go.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60BDEF-29CC-9659-4587-27CC25CC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066" y="2411626"/>
            <a:ext cx="5591568" cy="3148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224915" y="347046"/>
            <a:ext cx="9792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FUTURE SCOPE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B0617-F47D-D029-846E-C553A67A91FD}"/>
              </a:ext>
            </a:extLst>
          </p:cNvPr>
          <p:cNvSpPr txBox="1"/>
          <p:nvPr/>
        </p:nvSpPr>
        <p:spPr>
          <a:xfrm>
            <a:off x="220383" y="2252686"/>
            <a:ext cx="118020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Automated Customer Channels: Integrating SMS, Email, and WhatsApp APIs to instantly notify customers of status updates (e.g., when a device is "Ready for Delivery").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Dedicated Native Mobile Apps: Developing React Native applications featuring barcode and QR code scanner integration for fast ticket and parts lookup.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Intelligent Inventory Management: Upgrading procurement with a fully automated stockroom module, low-stock warnings, and barcode tracking.</a:t>
            </a:r>
          </a:p>
          <a:p>
            <a:pPr marL="285750" indent="-285750" algn="just">
              <a:buFont typeface="Symbol" panose="05050102010706020507" pitchFamily="18" charset="2"/>
              <a:buChar char=""/>
            </a:pPr>
            <a:endParaRPr lang="en-IN" dirty="0">
              <a:latin typeface="Sitka Heading" pitchFamily="2" charset="0"/>
            </a:endParaRPr>
          </a:p>
          <a:p>
            <a:pPr marL="285750" indent="-285750" algn="just">
              <a:buFont typeface="Symbol" panose="05050102010706020507" pitchFamily="18" charset="2"/>
              <a:buChar char=""/>
            </a:pPr>
            <a:r>
              <a:rPr lang="en-IN" dirty="0">
                <a:latin typeface="Sitka Heading" pitchFamily="2" charset="0"/>
              </a:rPr>
              <a:t>AI-Assisted Diagnostics: Implementing machine learning models to suggest repair timelines, cost projections, and troubleshooting guides based on historical tickets.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1468755" y="436880"/>
            <a:ext cx="9041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FB41E-072B-772F-574D-17E928D52300}"/>
              </a:ext>
            </a:extLst>
          </p:cNvPr>
          <p:cNvSpPr txBox="1"/>
          <p:nvPr/>
        </p:nvSpPr>
        <p:spPr>
          <a:xfrm>
            <a:off x="314908" y="1582876"/>
            <a:ext cx="11562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Sitka Heading" pitchFamily="2" charset="0"/>
              </a:rPr>
              <a:t>Al-</a:t>
            </a:r>
            <a:r>
              <a:rPr lang="en-IN" dirty="0" err="1">
                <a:latin typeface="Sitka Heading" pitchFamily="2" charset="0"/>
              </a:rPr>
              <a:t>Subaihin</a:t>
            </a:r>
            <a:r>
              <a:rPr lang="en-IN" dirty="0">
                <a:latin typeface="Sitka Heading" pitchFamily="2" charset="0"/>
              </a:rPr>
              <a:t>, A. A., &amp; Al-Ahmadi, S. A. (2024). Dynamic Data Isolation and Policy-Based Authorization in Serverless Multi-Tenant Cloud Environments. IEEE Access, 12. DOI: 10.1109/ACCESS.2024.3391823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Sitka Heading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Sitka Heading" pitchFamily="2" charset="0"/>
              </a:rPr>
              <a:t>Zhang, Y., Wang, X., &amp; Chen, J. (2025). State-Machine Constrained Process Automation: Enforcing Deterministic Workflows in Collaborative CRM Platforms. </a:t>
            </a:r>
            <a:r>
              <a:rPr lang="en-IN" dirty="0" err="1">
                <a:latin typeface="Sitka Heading" pitchFamily="2" charset="0"/>
              </a:rPr>
              <a:t>arXiv</a:t>
            </a:r>
            <a:r>
              <a:rPr lang="en-IN" dirty="0">
                <a:latin typeface="Sitka Heading" pitchFamily="2" charset="0"/>
              </a:rPr>
              <a:t> preprint arXiv:2501.04859.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Sitka Heading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Sitka Heading" pitchFamily="2" charset="0"/>
              </a:rPr>
              <a:t>Kumar, R., &amp; Patel, S. (2025). Digital Transformation of Micro and Small Enterprises: A Multi-Tenant Framework for Localized Service CRM Systems. International Journal of Information Management, 78. DOI: 10.1016/j.ijinfomgt.2024.102845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Sitka Heading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Sitka Heading" pitchFamily="2" charset="0"/>
              </a:rPr>
              <a:t>Gomez, M. L., &amp; Santos, F. R. (2024). Automated Procurement Operations and Decentralized Approval Pipelines in Enterprise Asset Management Systems. IEEE Transactions on Engineering Management, 71. DOI: 10.1109/TEM.2024.3387192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Sitka Heading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Sitka Heading" pitchFamily="2" charset="0"/>
              </a:rPr>
              <a:t>Lin, C., &amp; Zhao, H. (2024). Reactive Cloud Data Listeners: </a:t>
            </a:r>
            <a:r>
              <a:rPr lang="en-IN" dirty="0" err="1">
                <a:latin typeface="Sitka Heading" pitchFamily="2" charset="0"/>
              </a:rPr>
              <a:t>Analyzing</a:t>
            </a:r>
            <a:r>
              <a:rPr lang="en-IN" dirty="0">
                <a:latin typeface="Sitka Heading" pitchFamily="2" charset="0"/>
              </a:rPr>
              <a:t> Latency and Consistency in Event-Driven NoSQL Architectures. </a:t>
            </a:r>
            <a:r>
              <a:rPr lang="en-IN" dirty="0" err="1">
                <a:latin typeface="Sitka Heading" pitchFamily="2" charset="0"/>
              </a:rPr>
              <a:t>arXiv</a:t>
            </a:r>
            <a:r>
              <a:rPr lang="en-IN" dirty="0">
                <a:latin typeface="Sitka Heading" pitchFamily="2" charset="0"/>
              </a:rPr>
              <a:t> preprint arXiv:2409.08152.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4F39-901B-73AE-3E90-9283BAC4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9FE8F6-5F7B-71F9-2C96-0D73E116C6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039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1D3B7-F4A0-23DA-0A66-28593B7CCF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520" y="603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>
            <a:extLst>
              <a:ext uri="{FF2B5EF4-FFF2-40B4-BE49-F238E27FC236}">
                <a16:creationId xmlns:a16="http://schemas.microsoft.com/office/drawing/2014/main" id="{0D5E4C2B-A772-FD29-7146-A4357724EFF3}"/>
              </a:ext>
            </a:extLst>
          </p:cNvPr>
          <p:cNvSpPr txBox="1"/>
          <p:nvPr/>
        </p:nvSpPr>
        <p:spPr>
          <a:xfrm>
            <a:off x="1575117" y="3044279"/>
            <a:ext cx="9041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Sitka Heading" pitchFamily="2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671520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1512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Sitka Heading</vt:lpstr>
      <vt:lpstr>Sitka Text</vt:lpstr>
      <vt:lpstr>Symbol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Aditya Krishnan</dc:creator>
  <cp:lastModifiedBy>Ruthesh B</cp:lastModifiedBy>
  <cp:revision>7</cp:revision>
  <dcterms:created xsi:type="dcterms:W3CDTF">2025-08-29T15:51:00Z</dcterms:created>
  <dcterms:modified xsi:type="dcterms:W3CDTF">2026-08-06T02:37:47Z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D9133F1595F54B998684E3E29B4E4D05_12</vt:lpwstr>
  </property>
  <property fmtid="{D5CDD505-2E9C-101B-9397-08002B2CF9AE}" pid="3" name="KSOProductBuildVer">
    <vt:lpwstr>1033-12.2.0.23155</vt:lpwstr>
  </property>
</Properties>
</file>